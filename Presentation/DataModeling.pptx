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7" r:id="rId4"/>
    <p:sldId id="265" r:id="rId5"/>
    <p:sldId id="264" r:id="rId6"/>
    <p:sldId id="263" r:id="rId7"/>
    <p:sldId id="268" r:id="rId8"/>
    <p:sldId id="258" r:id="rId9"/>
    <p:sldId id="269" r:id="rId10"/>
    <p:sldId id="270" r:id="rId11"/>
    <p:sldId id="272" r:id="rId12"/>
    <p:sldId id="276" r:id="rId13"/>
    <p:sldId id="277" r:id="rId14"/>
    <p:sldId id="278" r:id="rId15"/>
    <p:sldId id="279" r:id="rId16"/>
    <p:sldId id="280" r:id="rId17"/>
    <p:sldId id="285" r:id="rId18"/>
    <p:sldId id="284" r:id="rId19"/>
    <p:sldId id="281" r:id="rId20"/>
    <p:sldId id="283" r:id="rId21"/>
    <p:sldId id="282" r:id="rId22"/>
    <p:sldId id="289" r:id="rId23"/>
    <p:sldId id="286" r:id="rId24"/>
    <p:sldId id="288" r:id="rId25"/>
    <p:sldId id="290" r:id="rId26"/>
    <p:sldId id="259" r:id="rId2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3E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2196BA-74B1-4D72-A463-093C89F8083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5BA4779-690E-4768-9AC2-9BC1D32FA3AC}">
      <dgm:prSet/>
      <dgm:spPr/>
      <dgm:t>
        <a:bodyPr/>
        <a:lstStyle/>
        <a:p>
          <a:r>
            <a:rPr lang="en-GB" dirty="0">
              <a:solidFill>
                <a:schemeClr val="tx1"/>
              </a:solidFill>
              <a:latin typeface="Georgia Pro Light" panose="02040302050405020303" pitchFamily="18" charset="0"/>
            </a:rPr>
            <a:t>Implement the concepts taught in the course such as semantic modelling, dashboard creation, and business analysis using tools </a:t>
          </a:r>
          <a:endParaRPr lang="en-US" dirty="0">
            <a:latin typeface="Georgia Pro Light" panose="02040302050405020303" pitchFamily="18" charset="0"/>
          </a:endParaRPr>
        </a:p>
      </dgm:t>
    </dgm:pt>
    <dgm:pt modelId="{C7EFF2BC-C80F-44BB-9E99-D519F81E3FA7}" type="parTrans" cxnId="{17A6B91F-49DB-4976-BE9B-D91457570F3D}">
      <dgm:prSet/>
      <dgm:spPr/>
      <dgm:t>
        <a:bodyPr/>
        <a:lstStyle/>
        <a:p>
          <a:endParaRPr lang="en-US"/>
        </a:p>
      </dgm:t>
    </dgm:pt>
    <dgm:pt modelId="{904D0416-4B04-4ABC-AB2E-9CB7B6BE9467}" type="sibTrans" cxnId="{17A6B91F-49DB-4976-BE9B-D91457570F3D}">
      <dgm:prSet/>
      <dgm:spPr/>
      <dgm:t>
        <a:bodyPr/>
        <a:lstStyle/>
        <a:p>
          <a:endParaRPr lang="en-US"/>
        </a:p>
      </dgm:t>
    </dgm:pt>
    <dgm:pt modelId="{8D6C3291-5E25-4481-A5C3-375A5025E00D}">
      <dgm:prSet/>
      <dgm:spPr/>
      <dgm:t>
        <a:bodyPr/>
        <a:lstStyle/>
        <a:p>
          <a:r>
            <a:rPr lang="en-GB"/>
            <a:t>Power BI  </a:t>
          </a:r>
          <a:endParaRPr lang="en-US"/>
        </a:p>
      </dgm:t>
    </dgm:pt>
    <dgm:pt modelId="{3CBB801D-405E-44B8-85CA-354A230D9AEC}" type="parTrans" cxnId="{AFA86090-3542-457D-866F-B9DB7B75FE88}">
      <dgm:prSet/>
      <dgm:spPr/>
      <dgm:t>
        <a:bodyPr/>
        <a:lstStyle/>
        <a:p>
          <a:endParaRPr lang="en-US"/>
        </a:p>
      </dgm:t>
    </dgm:pt>
    <dgm:pt modelId="{E043802D-BF47-4F40-98EC-4CEB16717E58}" type="sibTrans" cxnId="{AFA86090-3542-457D-866F-B9DB7B75FE88}">
      <dgm:prSet/>
      <dgm:spPr/>
      <dgm:t>
        <a:bodyPr/>
        <a:lstStyle/>
        <a:p>
          <a:endParaRPr lang="en-US"/>
        </a:p>
      </dgm:t>
    </dgm:pt>
    <dgm:pt modelId="{9EE0B3C9-BA96-45FA-A1DD-988AA46BFD2C}">
      <dgm:prSet/>
      <dgm:spPr/>
      <dgm:t>
        <a:bodyPr/>
        <a:lstStyle/>
        <a:p>
          <a:r>
            <a:rPr lang="en-GB"/>
            <a:t>Power Pivot / Power Query / Power View  </a:t>
          </a:r>
          <a:endParaRPr lang="en-US"/>
        </a:p>
      </dgm:t>
    </dgm:pt>
    <dgm:pt modelId="{97D22410-DBEE-48A0-AD7C-A41C69F91DF8}" type="parTrans" cxnId="{90BAEED3-0180-46F3-ADB3-17A6F80EA6D7}">
      <dgm:prSet/>
      <dgm:spPr/>
      <dgm:t>
        <a:bodyPr/>
        <a:lstStyle/>
        <a:p>
          <a:endParaRPr lang="en-US"/>
        </a:p>
      </dgm:t>
    </dgm:pt>
    <dgm:pt modelId="{7397287F-D54F-4E88-898E-8C2AC20316DA}" type="sibTrans" cxnId="{90BAEED3-0180-46F3-ADB3-17A6F80EA6D7}">
      <dgm:prSet/>
      <dgm:spPr/>
      <dgm:t>
        <a:bodyPr/>
        <a:lstStyle/>
        <a:p>
          <a:endParaRPr lang="en-US"/>
        </a:p>
      </dgm:t>
    </dgm:pt>
    <dgm:pt modelId="{AEA2FE8F-0C5C-495B-B5B0-11396D67082F}">
      <dgm:prSet/>
      <dgm:spPr/>
      <dgm:t>
        <a:bodyPr/>
        <a:lstStyle/>
        <a:p>
          <a:r>
            <a:rPr lang="en-GB"/>
            <a:t>DAX  </a:t>
          </a:r>
          <a:endParaRPr lang="en-US"/>
        </a:p>
      </dgm:t>
    </dgm:pt>
    <dgm:pt modelId="{D01A8F1C-E1D8-417C-BAE5-C38BC3F78D4A}" type="parTrans" cxnId="{CF833E7E-8B1F-453C-A2B9-7CF64AEEAC8D}">
      <dgm:prSet/>
      <dgm:spPr/>
      <dgm:t>
        <a:bodyPr/>
        <a:lstStyle/>
        <a:p>
          <a:endParaRPr lang="en-US"/>
        </a:p>
      </dgm:t>
    </dgm:pt>
    <dgm:pt modelId="{4EB2D696-E1C7-4006-A0EE-4CF753D6766F}" type="sibTrans" cxnId="{CF833E7E-8B1F-453C-A2B9-7CF64AEEAC8D}">
      <dgm:prSet/>
      <dgm:spPr/>
      <dgm:t>
        <a:bodyPr/>
        <a:lstStyle/>
        <a:p>
          <a:endParaRPr lang="en-US"/>
        </a:p>
      </dgm:t>
    </dgm:pt>
    <dgm:pt modelId="{6155B1DD-A669-4229-8578-CAFD1FB1B15F}" type="pres">
      <dgm:prSet presAssocID="{142196BA-74B1-4D72-A463-093C89F80838}" presName="root" presStyleCnt="0">
        <dgm:presLayoutVars>
          <dgm:dir/>
          <dgm:resizeHandles val="exact"/>
        </dgm:presLayoutVars>
      </dgm:prSet>
      <dgm:spPr/>
    </dgm:pt>
    <dgm:pt modelId="{04C33777-2539-4C1D-9D6D-777DA3E42FB5}" type="pres">
      <dgm:prSet presAssocID="{B5BA4779-690E-4768-9AC2-9BC1D32FA3AC}" presName="compNode" presStyleCnt="0"/>
      <dgm:spPr/>
    </dgm:pt>
    <dgm:pt modelId="{5904DD87-BE81-46E7-B1E2-169F6D7F1B46}" type="pres">
      <dgm:prSet presAssocID="{B5BA4779-690E-4768-9AC2-9BC1D32FA3AC}" presName="bgRect" presStyleLbl="bgShp" presStyleIdx="0" presStyleCnt="4" custLinFactNeighborX="27" custLinFactNeighborY="-8413"/>
      <dgm:spPr>
        <a:noFill/>
        <a:ln w="79375">
          <a:solidFill>
            <a:schemeClr val="accent1"/>
          </a:solidFill>
        </a:ln>
      </dgm:spPr>
    </dgm:pt>
    <dgm:pt modelId="{2AAC5C86-2624-4B71-88FA-A4A44EE4C699}" type="pres">
      <dgm:prSet presAssocID="{B5BA4779-690E-4768-9AC2-9BC1D32FA3AC}" presName="iconRect" presStyleLbl="node1" presStyleIdx="0" presStyleCnt="4" custScaleX="38460" custScaleY="30593" custLinFactX="-80971" custLinFactY="-9430" custLinFactNeighborX="-100000" custLinFactNeighborY="-100000"/>
      <dgm:spPr>
        <a:ln>
          <a:noFill/>
        </a:ln>
      </dgm:spPr>
    </dgm:pt>
    <dgm:pt modelId="{FAEF0F5B-8920-463A-8E18-339CFE26BE64}" type="pres">
      <dgm:prSet presAssocID="{B5BA4779-690E-4768-9AC2-9BC1D32FA3AC}" presName="spaceRect" presStyleCnt="0"/>
      <dgm:spPr/>
    </dgm:pt>
    <dgm:pt modelId="{C4BCA8E1-E6C8-415C-BD41-E680CEF47A39}" type="pres">
      <dgm:prSet presAssocID="{B5BA4779-690E-4768-9AC2-9BC1D32FA3AC}" presName="parTx" presStyleLbl="revTx" presStyleIdx="0" presStyleCnt="4" custScaleX="106077" custLinFactNeighborX="-3983" custLinFactNeighborY="941">
        <dgm:presLayoutVars>
          <dgm:chMax val="0"/>
          <dgm:chPref val="0"/>
        </dgm:presLayoutVars>
      </dgm:prSet>
      <dgm:spPr/>
    </dgm:pt>
    <dgm:pt modelId="{BAC220D7-AC23-422E-8FE2-DA693EF9D741}" type="pres">
      <dgm:prSet presAssocID="{904D0416-4B04-4ABC-AB2E-9CB7B6BE9467}" presName="sibTrans" presStyleCnt="0"/>
      <dgm:spPr/>
    </dgm:pt>
    <dgm:pt modelId="{6447EFC1-8C38-4B18-8D0A-F730C5869CAC}" type="pres">
      <dgm:prSet presAssocID="{8D6C3291-5E25-4481-A5C3-375A5025E00D}" presName="compNode" presStyleCnt="0"/>
      <dgm:spPr/>
    </dgm:pt>
    <dgm:pt modelId="{B3DB4AE0-4576-4340-9C73-47B176D1C7D3}" type="pres">
      <dgm:prSet presAssocID="{8D6C3291-5E25-4481-A5C3-375A5025E00D}" presName="bgRect" presStyleLbl="bgShp" presStyleIdx="1" presStyleCnt="4"/>
      <dgm:spPr/>
    </dgm:pt>
    <dgm:pt modelId="{FBECC365-2F39-45D1-9C76-E9B66B0EF85A}" type="pres">
      <dgm:prSet presAssocID="{8D6C3291-5E25-4481-A5C3-375A5025E00D}" presName="iconRect" presStyleLbl="node1" presStyleIdx="1"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DCBBFE6F-AC75-4B58-A6C7-77747F38DD15}" type="pres">
      <dgm:prSet presAssocID="{8D6C3291-5E25-4481-A5C3-375A5025E00D}" presName="spaceRect" presStyleCnt="0"/>
      <dgm:spPr/>
    </dgm:pt>
    <dgm:pt modelId="{143BC22A-BC98-4707-9B9C-D1426E04F670}" type="pres">
      <dgm:prSet presAssocID="{8D6C3291-5E25-4481-A5C3-375A5025E00D}" presName="parTx" presStyleLbl="revTx" presStyleIdx="1" presStyleCnt="4">
        <dgm:presLayoutVars>
          <dgm:chMax val="0"/>
          <dgm:chPref val="0"/>
        </dgm:presLayoutVars>
      </dgm:prSet>
      <dgm:spPr/>
    </dgm:pt>
    <dgm:pt modelId="{E9083171-228C-4B25-B628-A2DB125BD13E}" type="pres">
      <dgm:prSet presAssocID="{E043802D-BF47-4F40-98EC-4CEB16717E58}" presName="sibTrans" presStyleCnt="0"/>
      <dgm:spPr/>
    </dgm:pt>
    <dgm:pt modelId="{B33DE510-ABF4-43C8-86A5-A056FE7C75E1}" type="pres">
      <dgm:prSet presAssocID="{9EE0B3C9-BA96-45FA-A1DD-988AA46BFD2C}" presName="compNode" presStyleCnt="0"/>
      <dgm:spPr/>
    </dgm:pt>
    <dgm:pt modelId="{4C99B4E7-85C8-4D1D-B5E1-CF9215B50D52}" type="pres">
      <dgm:prSet presAssocID="{9EE0B3C9-BA96-45FA-A1DD-988AA46BFD2C}" presName="bgRect" presStyleLbl="bgShp" presStyleIdx="2" presStyleCnt="4"/>
      <dgm:spPr/>
    </dgm:pt>
    <dgm:pt modelId="{C0C487A6-A1C8-4F52-9C68-C3062E34ADF4}" type="pres">
      <dgm:prSet presAssocID="{9EE0B3C9-BA96-45FA-A1DD-988AA46BFD2C}" presName="iconRect" presStyleLbl="node1" presStyleIdx="2"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bulb"/>
        </a:ext>
      </dgm:extLst>
    </dgm:pt>
    <dgm:pt modelId="{0956DEC4-2C28-409A-87F9-6C3C0A38101D}" type="pres">
      <dgm:prSet presAssocID="{9EE0B3C9-BA96-45FA-A1DD-988AA46BFD2C}" presName="spaceRect" presStyleCnt="0"/>
      <dgm:spPr/>
    </dgm:pt>
    <dgm:pt modelId="{9B5EA205-9F7C-49A2-9203-E2E555E3100B}" type="pres">
      <dgm:prSet presAssocID="{9EE0B3C9-BA96-45FA-A1DD-988AA46BFD2C}" presName="parTx" presStyleLbl="revTx" presStyleIdx="2" presStyleCnt="4">
        <dgm:presLayoutVars>
          <dgm:chMax val="0"/>
          <dgm:chPref val="0"/>
        </dgm:presLayoutVars>
      </dgm:prSet>
      <dgm:spPr/>
    </dgm:pt>
    <dgm:pt modelId="{C1E4981F-4A10-44F2-9585-406D4BD59401}" type="pres">
      <dgm:prSet presAssocID="{7397287F-D54F-4E88-898E-8C2AC20316DA}" presName="sibTrans" presStyleCnt="0"/>
      <dgm:spPr/>
    </dgm:pt>
    <dgm:pt modelId="{452EA1F5-E82B-4301-8E4A-ADD613C4102C}" type="pres">
      <dgm:prSet presAssocID="{AEA2FE8F-0C5C-495B-B5B0-11396D67082F}" presName="compNode" presStyleCnt="0"/>
      <dgm:spPr/>
    </dgm:pt>
    <dgm:pt modelId="{A1B7BE6D-FB04-4711-BE68-EFD62B149C30}" type="pres">
      <dgm:prSet presAssocID="{AEA2FE8F-0C5C-495B-B5B0-11396D67082F}" presName="bgRect" presStyleLbl="bgShp" presStyleIdx="3" presStyleCnt="4"/>
      <dgm:spPr/>
    </dgm:pt>
    <dgm:pt modelId="{F7A5F2E8-E174-4BAC-B076-A50E716741AC}" type="pres">
      <dgm:prSet presAssocID="{AEA2FE8F-0C5C-495B-B5B0-11396D67082F}" presName="iconRect" presStyleLbl="node1" presStyleIdx="3"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uzzle"/>
        </a:ext>
      </dgm:extLst>
    </dgm:pt>
    <dgm:pt modelId="{C2484F13-FCAA-4BBA-B0FE-DA2C4CE4933E}" type="pres">
      <dgm:prSet presAssocID="{AEA2FE8F-0C5C-495B-B5B0-11396D67082F}" presName="spaceRect" presStyleCnt="0"/>
      <dgm:spPr/>
    </dgm:pt>
    <dgm:pt modelId="{0210054E-BF4A-41A8-AD0D-3308D5406B03}" type="pres">
      <dgm:prSet presAssocID="{AEA2FE8F-0C5C-495B-B5B0-11396D67082F}" presName="parTx" presStyleLbl="revTx" presStyleIdx="3" presStyleCnt="4">
        <dgm:presLayoutVars>
          <dgm:chMax val="0"/>
          <dgm:chPref val="0"/>
        </dgm:presLayoutVars>
      </dgm:prSet>
      <dgm:spPr/>
    </dgm:pt>
  </dgm:ptLst>
  <dgm:cxnLst>
    <dgm:cxn modelId="{17A6B91F-49DB-4976-BE9B-D91457570F3D}" srcId="{142196BA-74B1-4D72-A463-093C89F80838}" destId="{B5BA4779-690E-4768-9AC2-9BC1D32FA3AC}" srcOrd="0" destOrd="0" parTransId="{C7EFF2BC-C80F-44BB-9E99-D519F81E3FA7}" sibTransId="{904D0416-4B04-4ABC-AB2E-9CB7B6BE9467}"/>
    <dgm:cxn modelId="{22CAC741-D042-40A8-AEBA-C9BF315B4D64}" type="presOf" srcId="{142196BA-74B1-4D72-A463-093C89F80838}" destId="{6155B1DD-A669-4229-8578-CAFD1FB1B15F}" srcOrd="0" destOrd="0" presId="urn:microsoft.com/office/officeart/2018/2/layout/IconVerticalSolidList"/>
    <dgm:cxn modelId="{CF833E7E-8B1F-453C-A2B9-7CF64AEEAC8D}" srcId="{142196BA-74B1-4D72-A463-093C89F80838}" destId="{AEA2FE8F-0C5C-495B-B5B0-11396D67082F}" srcOrd="3" destOrd="0" parTransId="{D01A8F1C-E1D8-417C-BAE5-C38BC3F78D4A}" sibTransId="{4EB2D696-E1C7-4006-A0EE-4CF753D6766F}"/>
    <dgm:cxn modelId="{AFA86090-3542-457D-866F-B9DB7B75FE88}" srcId="{142196BA-74B1-4D72-A463-093C89F80838}" destId="{8D6C3291-5E25-4481-A5C3-375A5025E00D}" srcOrd="1" destOrd="0" parTransId="{3CBB801D-405E-44B8-85CA-354A230D9AEC}" sibTransId="{E043802D-BF47-4F40-98EC-4CEB16717E58}"/>
    <dgm:cxn modelId="{A8C34497-7DC8-4D71-8EC5-BA588B7A4F72}" type="presOf" srcId="{8D6C3291-5E25-4481-A5C3-375A5025E00D}" destId="{143BC22A-BC98-4707-9B9C-D1426E04F670}" srcOrd="0" destOrd="0" presId="urn:microsoft.com/office/officeart/2018/2/layout/IconVerticalSolidList"/>
    <dgm:cxn modelId="{E3B2FCA2-8332-4B92-B4AC-8CCDDDC882E2}" type="presOf" srcId="{AEA2FE8F-0C5C-495B-B5B0-11396D67082F}" destId="{0210054E-BF4A-41A8-AD0D-3308D5406B03}" srcOrd="0" destOrd="0" presId="urn:microsoft.com/office/officeart/2018/2/layout/IconVerticalSolidList"/>
    <dgm:cxn modelId="{90BAEED3-0180-46F3-ADB3-17A6F80EA6D7}" srcId="{142196BA-74B1-4D72-A463-093C89F80838}" destId="{9EE0B3C9-BA96-45FA-A1DD-988AA46BFD2C}" srcOrd="2" destOrd="0" parTransId="{97D22410-DBEE-48A0-AD7C-A41C69F91DF8}" sibTransId="{7397287F-D54F-4E88-898E-8C2AC20316DA}"/>
    <dgm:cxn modelId="{AA2979DE-E405-46C5-9984-F6C3F254743A}" type="presOf" srcId="{B5BA4779-690E-4768-9AC2-9BC1D32FA3AC}" destId="{C4BCA8E1-E6C8-415C-BD41-E680CEF47A39}" srcOrd="0" destOrd="0" presId="urn:microsoft.com/office/officeart/2018/2/layout/IconVerticalSolidList"/>
    <dgm:cxn modelId="{750601F8-3FC7-4F02-BCB4-732170D9392E}" type="presOf" srcId="{9EE0B3C9-BA96-45FA-A1DD-988AA46BFD2C}" destId="{9B5EA205-9F7C-49A2-9203-E2E555E3100B}" srcOrd="0" destOrd="0" presId="urn:microsoft.com/office/officeart/2018/2/layout/IconVerticalSolidList"/>
    <dgm:cxn modelId="{C7A4A515-FD99-4754-B081-46D0D50B9806}" type="presParOf" srcId="{6155B1DD-A669-4229-8578-CAFD1FB1B15F}" destId="{04C33777-2539-4C1D-9D6D-777DA3E42FB5}" srcOrd="0" destOrd="0" presId="urn:microsoft.com/office/officeart/2018/2/layout/IconVerticalSolidList"/>
    <dgm:cxn modelId="{64816D2B-2D86-41C0-AD79-393EB881ECB1}" type="presParOf" srcId="{04C33777-2539-4C1D-9D6D-777DA3E42FB5}" destId="{5904DD87-BE81-46E7-B1E2-169F6D7F1B46}" srcOrd="0" destOrd="0" presId="urn:microsoft.com/office/officeart/2018/2/layout/IconVerticalSolidList"/>
    <dgm:cxn modelId="{18D6FA02-45DF-463E-AAF9-57CE28DF706B}" type="presParOf" srcId="{04C33777-2539-4C1D-9D6D-777DA3E42FB5}" destId="{2AAC5C86-2624-4B71-88FA-A4A44EE4C699}" srcOrd="1" destOrd="0" presId="urn:microsoft.com/office/officeart/2018/2/layout/IconVerticalSolidList"/>
    <dgm:cxn modelId="{6122F7EB-C478-4CDD-ABCE-03355E105A07}" type="presParOf" srcId="{04C33777-2539-4C1D-9D6D-777DA3E42FB5}" destId="{FAEF0F5B-8920-463A-8E18-339CFE26BE64}" srcOrd="2" destOrd="0" presId="urn:microsoft.com/office/officeart/2018/2/layout/IconVerticalSolidList"/>
    <dgm:cxn modelId="{4425F26F-2EC0-4243-AF8E-69B4F171BABB}" type="presParOf" srcId="{04C33777-2539-4C1D-9D6D-777DA3E42FB5}" destId="{C4BCA8E1-E6C8-415C-BD41-E680CEF47A39}" srcOrd="3" destOrd="0" presId="urn:microsoft.com/office/officeart/2018/2/layout/IconVerticalSolidList"/>
    <dgm:cxn modelId="{7924A03E-8D0A-4F00-83FD-CE1E3EC39ADF}" type="presParOf" srcId="{6155B1DD-A669-4229-8578-CAFD1FB1B15F}" destId="{BAC220D7-AC23-422E-8FE2-DA693EF9D741}" srcOrd="1" destOrd="0" presId="urn:microsoft.com/office/officeart/2018/2/layout/IconVerticalSolidList"/>
    <dgm:cxn modelId="{AFEBBDC5-5E03-494E-940E-2EF39F49748F}" type="presParOf" srcId="{6155B1DD-A669-4229-8578-CAFD1FB1B15F}" destId="{6447EFC1-8C38-4B18-8D0A-F730C5869CAC}" srcOrd="2" destOrd="0" presId="urn:microsoft.com/office/officeart/2018/2/layout/IconVerticalSolidList"/>
    <dgm:cxn modelId="{213D57CC-9FED-4327-A138-FB4A152E17E0}" type="presParOf" srcId="{6447EFC1-8C38-4B18-8D0A-F730C5869CAC}" destId="{B3DB4AE0-4576-4340-9C73-47B176D1C7D3}" srcOrd="0" destOrd="0" presId="urn:microsoft.com/office/officeart/2018/2/layout/IconVerticalSolidList"/>
    <dgm:cxn modelId="{BED5F135-5827-4741-AD20-95C5ED447CD2}" type="presParOf" srcId="{6447EFC1-8C38-4B18-8D0A-F730C5869CAC}" destId="{FBECC365-2F39-45D1-9C76-E9B66B0EF85A}" srcOrd="1" destOrd="0" presId="urn:microsoft.com/office/officeart/2018/2/layout/IconVerticalSolidList"/>
    <dgm:cxn modelId="{CBC5D6A4-AD94-403D-80DE-15DE3FACB4AC}" type="presParOf" srcId="{6447EFC1-8C38-4B18-8D0A-F730C5869CAC}" destId="{DCBBFE6F-AC75-4B58-A6C7-77747F38DD15}" srcOrd="2" destOrd="0" presId="urn:microsoft.com/office/officeart/2018/2/layout/IconVerticalSolidList"/>
    <dgm:cxn modelId="{305170F3-3A00-4963-93E5-1ECECB02C1DB}" type="presParOf" srcId="{6447EFC1-8C38-4B18-8D0A-F730C5869CAC}" destId="{143BC22A-BC98-4707-9B9C-D1426E04F670}" srcOrd="3" destOrd="0" presId="urn:microsoft.com/office/officeart/2018/2/layout/IconVerticalSolidList"/>
    <dgm:cxn modelId="{8558EE55-D737-4D3D-9417-BB65C7C17DAD}" type="presParOf" srcId="{6155B1DD-A669-4229-8578-CAFD1FB1B15F}" destId="{E9083171-228C-4B25-B628-A2DB125BD13E}" srcOrd="3" destOrd="0" presId="urn:microsoft.com/office/officeart/2018/2/layout/IconVerticalSolidList"/>
    <dgm:cxn modelId="{03D308D4-3559-44D6-8BEA-4E0BFCA67F6E}" type="presParOf" srcId="{6155B1DD-A669-4229-8578-CAFD1FB1B15F}" destId="{B33DE510-ABF4-43C8-86A5-A056FE7C75E1}" srcOrd="4" destOrd="0" presId="urn:microsoft.com/office/officeart/2018/2/layout/IconVerticalSolidList"/>
    <dgm:cxn modelId="{1EDBC968-32C3-4E9D-A071-4A55AB5C7306}" type="presParOf" srcId="{B33DE510-ABF4-43C8-86A5-A056FE7C75E1}" destId="{4C99B4E7-85C8-4D1D-B5E1-CF9215B50D52}" srcOrd="0" destOrd="0" presId="urn:microsoft.com/office/officeart/2018/2/layout/IconVerticalSolidList"/>
    <dgm:cxn modelId="{8E0217BB-F19B-4AD5-8902-024820C10316}" type="presParOf" srcId="{B33DE510-ABF4-43C8-86A5-A056FE7C75E1}" destId="{C0C487A6-A1C8-4F52-9C68-C3062E34ADF4}" srcOrd="1" destOrd="0" presId="urn:microsoft.com/office/officeart/2018/2/layout/IconVerticalSolidList"/>
    <dgm:cxn modelId="{818AC8C0-4B93-4A47-BB39-D9D8E9C2D512}" type="presParOf" srcId="{B33DE510-ABF4-43C8-86A5-A056FE7C75E1}" destId="{0956DEC4-2C28-409A-87F9-6C3C0A38101D}" srcOrd="2" destOrd="0" presId="urn:microsoft.com/office/officeart/2018/2/layout/IconVerticalSolidList"/>
    <dgm:cxn modelId="{23881A14-E445-42B8-B951-88598DA01ACB}" type="presParOf" srcId="{B33DE510-ABF4-43C8-86A5-A056FE7C75E1}" destId="{9B5EA205-9F7C-49A2-9203-E2E555E3100B}" srcOrd="3" destOrd="0" presId="urn:microsoft.com/office/officeart/2018/2/layout/IconVerticalSolidList"/>
    <dgm:cxn modelId="{59063DC0-F575-450C-B87F-DA8199B5410C}" type="presParOf" srcId="{6155B1DD-A669-4229-8578-CAFD1FB1B15F}" destId="{C1E4981F-4A10-44F2-9585-406D4BD59401}" srcOrd="5" destOrd="0" presId="urn:microsoft.com/office/officeart/2018/2/layout/IconVerticalSolidList"/>
    <dgm:cxn modelId="{413FDE01-326B-49B8-BFB7-F3441C3F4A58}" type="presParOf" srcId="{6155B1DD-A669-4229-8578-CAFD1FB1B15F}" destId="{452EA1F5-E82B-4301-8E4A-ADD613C4102C}" srcOrd="6" destOrd="0" presId="urn:microsoft.com/office/officeart/2018/2/layout/IconVerticalSolidList"/>
    <dgm:cxn modelId="{EEEF610C-BE48-46CA-900E-C5882E0E3E9E}" type="presParOf" srcId="{452EA1F5-E82B-4301-8E4A-ADD613C4102C}" destId="{A1B7BE6D-FB04-4711-BE68-EFD62B149C30}" srcOrd="0" destOrd="0" presId="urn:microsoft.com/office/officeart/2018/2/layout/IconVerticalSolidList"/>
    <dgm:cxn modelId="{FA6FF14C-A2D0-448E-BB15-7EC519522745}" type="presParOf" srcId="{452EA1F5-E82B-4301-8E4A-ADD613C4102C}" destId="{F7A5F2E8-E174-4BAC-B076-A50E716741AC}" srcOrd="1" destOrd="0" presId="urn:microsoft.com/office/officeart/2018/2/layout/IconVerticalSolidList"/>
    <dgm:cxn modelId="{2519E403-978A-46F1-8C03-54DA9DF230DD}" type="presParOf" srcId="{452EA1F5-E82B-4301-8E4A-ADD613C4102C}" destId="{C2484F13-FCAA-4BBA-B0FE-DA2C4CE4933E}" srcOrd="2" destOrd="0" presId="urn:microsoft.com/office/officeart/2018/2/layout/IconVerticalSolidList"/>
    <dgm:cxn modelId="{D2EE202E-892B-4E4B-B9B4-980D01CF10A9}" type="presParOf" srcId="{452EA1F5-E82B-4301-8E4A-ADD613C4102C}" destId="{0210054E-BF4A-41A8-AD0D-3308D5406B0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01ACCE-1017-4E9B-B593-0555F5827D6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5FDC4AA-E5DB-4B9E-8CC4-7D713BA47424}">
      <dgm:prSet/>
      <dgm:spPr/>
      <dgm:t>
        <a:bodyPr/>
        <a:lstStyle/>
        <a:p>
          <a:pPr>
            <a:defRPr cap="all"/>
          </a:pPr>
          <a:r>
            <a:rPr lang="en-US"/>
            <a:t>Data preparation </a:t>
          </a:r>
        </a:p>
      </dgm:t>
    </dgm:pt>
    <dgm:pt modelId="{00518A7F-B40C-4658-9AC5-2F53DB68F22D}" type="parTrans" cxnId="{25061E42-2F61-4BC8-A8FA-C013D8304146}">
      <dgm:prSet/>
      <dgm:spPr/>
      <dgm:t>
        <a:bodyPr/>
        <a:lstStyle/>
        <a:p>
          <a:endParaRPr lang="en-US"/>
        </a:p>
      </dgm:t>
    </dgm:pt>
    <dgm:pt modelId="{F83E368A-4167-45E9-99E6-6B412F41DA75}" type="sibTrans" cxnId="{25061E42-2F61-4BC8-A8FA-C013D8304146}">
      <dgm:prSet/>
      <dgm:spPr/>
      <dgm:t>
        <a:bodyPr/>
        <a:lstStyle/>
        <a:p>
          <a:endParaRPr lang="en-US"/>
        </a:p>
      </dgm:t>
    </dgm:pt>
    <dgm:pt modelId="{F3CD206D-2D90-4A40-8703-327A0B13B883}">
      <dgm:prSet/>
      <dgm:spPr/>
      <dgm:t>
        <a:bodyPr/>
        <a:lstStyle/>
        <a:p>
          <a:pPr>
            <a:defRPr cap="all"/>
          </a:pPr>
          <a:r>
            <a:rPr lang="en-US"/>
            <a:t>Data modeling </a:t>
          </a:r>
        </a:p>
      </dgm:t>
    </dgm:pt>
    <dgm:pt modelId="{85F3297C-4E1A-400F-AE0C-11D013472304}" type="parTrans" cxnId="{1BC9DB4E-AE46-4D87-A356-927599B88874}">
      <dgm:prSet/>
      <dgm:spPr/>
      <dgm:t>
        <a:bodyPr/>
        <a:lstStyle/>
        <a:p>
          <a:endParaRPr lang="en-US"/>
        </a:p>
      </dgm:t>
    </dgm:pt>
    <dgm:pt modelId="{E3EBC728-C64B-4866-A563-0EF67F88FFE0}" type="sibTrans" cxnId="{1BC9DB4E-AE46-4D87-A356-927599B88874}">
      <dgm:prSet/>
      <dgm:spPr/>
      <dgm:t>
        <a:bodyPr/>
        <a:lstStyle/>
        <a:p>
          <a:endParaRPr lang="en-US"/>
        </a:p>
      </dgm:t>
    </dgm:pt>
    <dgm:pt modelId="{A51CE234-C046-4881-99DC-32F0CECF83AB}">
      <dgm:prSet/>
      <dgm:spPr/>
      <dgm:t>
        <a:bodyPr/>
        <a:lstStyle/>
        <a:p>
          <a:pPr>
            <a:defRPr cap="all"/>
          </a:pPr>
          <a:r>
            <a:rPr lang="en-US"/>
            <a:t>Power BI Report Building</a:t>
          </a:r>
        </a:p>
      </dgm:t>
    </dgm:pt>
    <dgm:pt modelId="{CA166F44-4CA5-45C3-ACA1-478CF21D1D0D}" type="parTrans" cxnId="{8399FA64-E480-41B6-BEFD-9FF007FA42FF}">
      <dgm:prSet/>
      <dgm:spPr/>
      <dgm:t>
        <a:bodyPr/>
        <a:lstStyle/>
        <a:p>
          <a:endParaRPr lang="en-US"/>
        </a:p>
      </dgm:t>
    </dgm:pt>
    <dgm:pt modelId="{10F60572-D48D-46FE-B534-FC0C75D0B7A1}" type="sibTrans" cxnId="{8399FA64-E480-41B6-BEFD-9FF007FA42FF}">
      <dgm:prSet/>
      <dgm:spPr/>
      <dgm:t>
        <a:bodyPr/>
        <a:lstStyle/>
        <a:p>
          <a:endParaRPr lang="en-US"/>
        </a:p>
      </dgm:t>
    </dgm:pt>
    <dgm:pt modelId="{36562492-3771-4434-8FF5-0A1851109007}">
      <dgm:prSet/>
      <dgm:spPr/>
      <dgm:t>
        <a:bodyPr/>
        <a:lstStyle/>
        <a:p>
          <a:pPr>
            <a:defRPr cap="all"/>
          </a:pPr>
          <a:r>
            <a:rPr lang="en-US"/>
            <a:t>Advance Dax Analisis</a:t>
          </a:r>
        </a:p>
      </dgm:t>
    </dgm:pt>
    <dgm:pt modelId="{B8A26703-23D1-49A5-A8B9-01FFF078F6BB}" type="parTrans" cxnId="{03F0FD30-A424-4816-B693-5F1DE6E68AF1}">
      <dgm:prSet/>
      <dgm:spPr/>
      <dgm:t>
        <a:bodyPr/>
        <a:lstStyle/>
        <a:p>
          <a:endParaRPr lang="en-US"/>
        </a:p>
      </dgm:t>
    </dgm:pt>
    <dgm:pt modelId="{27C272C4-0423-42DA-884F-C41147DF5A11}" type="sibTrans" cxnId="{03F0FD30-A424-4816-B693-5F1DE6E68AF1}">
      <dgm:prSet/>
      <dgm:spPr/>
      <dgm:t>
        <a:bodyPr/>
        <a:lstStyle/>
        <a:p>
          <a:endParaRPr lang="en-US"/>
        </a:p>
      </dgm:t>
    </dgm:pt>
    <dgm:pt modelId="{ED5E231C-2B90-4FAD-A758-D2566DDBC5E1}" type="pres">
      <dgm:prSet presAssocID="{5401ACCE-1017-4E9B-B593-0555F5827D67}" presName="root" presStyleCnt="0">
        <dgm:presLayoutVars>
          <dgm:dir/>
          <dgm:resizeHandles val="exact"/>
        </dgm:presLayoutVars>
      </dgm:prSet>
      <dgm:spPr/>
    </dgm:pt>
    <dgm:pt modelId="{FE18F06E-F85B-4430-A9DD-AD137C94FAAF}" type="pres">
      <dgm:prSet presAssocID="{95FDC4AA-E5DB-4B9E-8CC4-7D713BA47424}" presName="compNode" presStyleCnt="0"/>
      <dgm:spPr/>
    </dgm:pt>
    <dgm:pt modelId="{BD117475-D6AB-4F5C-B801-803E87FA237D}" type="pres">
      <dgm:prSet presAssocID="{95FDC4AA-E5DB-4B9E-8CC4-7D713BA47424}" presName="iconBgRect" presStyleLbl="bgShp" presStyleIdx="0" presStyleCnt="4"/>
      <dgm:spPr/>
    </dgm:pt>
    <dgm:pt modelId="{C5B9CD0A-0321-4BC4-B9B2-625F979A3144}" type="pres">
      <dgm:prSet presAssocID="{95FDC4AA-E5DB-4B9E-8CC4-7D713BA4742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A8C3EFCA-1517-44B8-949A-2D0D793C08D8}" type="pres">
      <dgm:prSet presAssocID="{95FDC4AA-E5DB-4B9E-8CC4-7D713BA47424}" presName="spaceRect" presStyleCnt="0"/>
      <dgm:spPr/>
    </dgm:pt>
    <dgm:pt modelId="{1289D6DB-D485-4B3B-B485-50564AA070F3}" type="pres">
      <dgm:prSet presAssocID="{95FDC4AA-E5DB-4B9E-8CC4-7D713BA47424}" presName="textRect" presStyleLbl="revTx" presStyleIdx="0" presStyleCnt="4">
        <dgm:presLayoutVars>
          <dgm:chMax val="1"/>
          <dgm:chPref val="1"/>
        </dgm:presLayoutVars>
      </dgm:prSet>
      <dgm:spPr/>
    </dgm:pt>
    <dgm:pt modelId="{DEB90A09-E764-42F0-8A96-88283AF66742}" type="pres">
      <dgm:prSet presAssocID="{F83E368A-4167-45E9-99E6-6B412F41DA75}" presName="sibTrans" presStyleCnt="0"/>
      <dgm:spPr/>
    </dgm:pt>
    <dgm:pt modelId="{B6044CAB-C67E-4DDB-88D5-DE2C99A06B6F}" type="pres">
      <dgm:prSet presAssocID="{F3CD206D-2D90-4A40-8703-327A0B13B883}" presName="compNode" presStyleCnt="0"/>
      <dgm:spPr/>
    </dgm:pt>
    <dgm:pt modelId="{5534A3A2-0435-47AD-89A6-9EAA9B8A375B}" type="pres">
      <dgm:prSet presAssocID="{F3CD206D-2D90-4A40-8703-327A0B13B883}" presName="iconBgRect" presStyleLbl="bgShp" presStyleIdx="1" presStyleCnt="4"/>
      <dgm:spPr/>
    </dgm:pt>
    <dgm:pt modelId="{F392A34F-5759-47C8-9BBF-31964876CB1A}" type="pres">
      <dgm:prSet presAssocID="{F3CD206D-2D90-4A40-8703-327A0B13B88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9031FAD7-7741-4410-ACAA-585AC2AD1B3B}" type="pres">
      <dgm:prSet presAssocID="{F3CD206D-2D90-4A40-8703-327A0B13B883}" presName="spaceRect" presStyleCnt="0"/>
      <dgm:spPr/>
    </dgm:pt>
    <dgm:pt modelId="{9DE6D9E9-5049-444B-A701-F7A0D45135CB}" type="pres">
      <dgm:prSet presAssocID="{F3CD206D-2D90-4A40-8703-327A0B13B883}" presName="textRect" presStyleLbl="revTx" presStyleIdx="1" presStyleCnt="4">
        <dgm:presLayoutVars>
          <dgm:chMax val="1"/>
          <dgm:chPref val="1"/>
        </dgm:presLayoutVars>
      </dgm:prSet>
      <dgm:spPr/>
    </dgm:pt>
    <dgm:pt modelId="{97933195-1C75-49A8-A7DD-BAC6604C5078}" type="pres">
      <dgm:prSet presAssocID="{E3EBC728-C64B-4866-A563-0EF67F88FFE0}" presName="sibTrans" presStyleCnt="0"/>
      <dgm:spPr/>
    </dgm:pt>
    <dgm:pt modelId="{FB9CB683-6E77-4CE6-90C2-F383CDFB20A7}" type="pres">
      <dgm:prSet presAssocID="{A51CE234-C046-4881-99DC-32F0CECF83AB}" presName="compNode" presStyleCnt="0"/>
      <dgm:spPr/>
    </dgm:pt>
    <dgm:pt modelId="{211B6C13-7521-4BD2-AE31-55640BF60220}" type="pres">
      <dgm:prSet presAssocID="{A51CE234-C046-4881-99DC-32F0CECF83AB}" presName="iconBgRect" presStyleLbl="bgShp" presStyleIdx="2" presStyleCnt="4"/>
      <dgm:spPr/>
    </dgm:pt>
    <dgm:pt modelId="{5280CEA1-D803-4334-9AC9-28B35522F1AA}" type="pres">
      <dgm:prSet presAssocID="{A51CE234-C046-4881-99DC-32F0CECF83A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CD2553EC-0C7A-449F-B70E-3140BDDFB980}" type="pres">
      <dgm:prSet presAssocID="{A51CE234-C046-4881-99DC-32F0CECF83AB}" presName="spaceRect" presStyleCnt="0"/>
      <dgm:spPr/>
    </dgm:pt>
    <dgm:pt modelId="{B7949C1C-50DC-4D29-9E8E-8B95EA375BA5}" type="pres">
      <dgm:prSet presAssocID="{A51CE234-C046-4881-99DC-32F0CECF83AB}" presName="textRect" presStyleLbl="revTx" presStyleIdx="2" presStyleCnt="4">
        <dgm:presLayoutVars>
          <dgm:chMax val="1"/>
          <dgm:chPref val="1"/>
        </dgm:presLayoutVars>
      </dgm:prSet>
      <dgm:spPr/>
    </dgm:pt>
    <dgm:pt modelId="{356949D8-9E47-4B98-A4B3-E2374A19A28E}" type="pres">
      <dgm:prSet presAssocID="{10F60572-D48D-46FE-B534-FC0C75D0B7A1}" presName="sibTrans" presStyleCnt="0"/>
      <dgm:spPr/>
    </dgm:pt>
    <dgm:pt modelId="{6E9F36D2-4843-4B44-97A9-036556B094E4}" type="pres">
      <dgm:prSet presAssocID="{36562492-3771-4434-8FF5-0A1851109007}" presName="compNode" presStyleCnt="0"/>
      <dgm:spPr/>
    </dgm:pt>
    <dgm:pt modelId="{EAC3D864-5809-4757-9318-B02ACF6FBF39}" type="pres">
      <dgm:prSet presAssocID="{36562492-3771-4434-8FF5-0A1851109007}" presName="iconBgRect" presStyleLbl="bgShp" presStyleIdx="3" presStyleCnt="4"/>
      <dgm:spPr/>
    </dgm:pt>
    <dgm:pt modelId="{20CAAE63-FF63-4D50-B1CF-11B8844466E8}" type="pres">
      <dgm:prSet presAssocID="{36562492-3771-4434-8FF5-0A185110900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rker"/>
        </a:ext>
      </dgm:extLst>
    </dgm:pt>
    <dgm:pt modelId="{A78B0006-D451-4F4A-A70E-7EC15DD01757}" type="pres">
      <dgm:prSet presAssocID="{36562492-3771-4434-8FF5-0A1851109007}" presName="spaceRect" presStyleCnt="0"/>
      <dgm:spPr/>
    </dgm:pt>
    <dgm:pt modelId="{4CC6E855-620E-46B4-91A4-065F36AD401E}" type="pres">
      <dgm:prSet presAssocID="{36562492-3771-4434-8FF5-0A1851109007}" presName="textRect" presStyleLbl="revTx" presStyleIdx="3" presStyleCnt="4">
        <dgm:presLayoutVars>
          <dgm:chMax val="1"/>
          <dgm:chPref val="1"/>
        </dgm:presLayoutVars>
      </dgm:prSet>
      <dgm:spPr/>
    </dgm:pt>
  </dgm:ptLst>
  <dgm:cxnLst>
    <dgm:cxn modelId="{03F0FD30-A424-4816-B693-5F1DE6E68AF1}" srcId="{5401ACCE-1017-4E9B-B593-0555F5827D67}" destId="{36562492-3771-4434-8FF5-0A1851109007}" srcOrd="3" destOrd="0" parTransId="{B8A26703-23D1-49A5-A8B9-01FFF078F6BB}" sibTransId="{27C272C4-0423-42DA-884F-C41147DF5A11}"/>
    <dgm:cxn modelId="{42FE8F38-887B-42BC-9981-A2B9EAADE323}" type="presOf" srcId="{5401ACCE-1017-4E9B-B593-0555F5827D67}" destId="{ED5E231C-2B90-4FAD-A758-D2566DDBC5E1}" srcOrd="0" destOrd="0" presId="urn:microsoft.com/office/officeart/2018/5/layout/IconCircleLabelList"/>
    <dgm:cxn modelId="{25061E42-2F61-4BC8-A8FA-C013D8304146}" srcId="{5401ACCE-1017-4E9B-B593-0555F5827D67}" destId="{95FDC4AA-E5DB-4B9E-8CC4-7D713BA47424}" srcOrd="0" destOrd="0" parTransId="{00518A7F-B40C-4658-9AC5-2F53DB68F22D}" sibTransId="{F83E368A-4167-45E9-99E6-6B412F41DA75}"/>
    <dgm:cxn modelId="{8399FA64-E480-41B6-BEFD-9FF007FA42FF}" srcId="{5401ACCE-1017-4E9B-B593-0555F5827D67}" destId="{A51CE234-C046-4881-99DC-32F0CECF83AB}" srcOrd="2" destOrd="0" parTransId="{CA166F44-4CA5-45C3-ACA1-478CF21D1D0D}" sibTransId="{10F60572-D48D-46FE-B534-FC0C75D0B7A1}"/>
    <dgm:cxn modelId="{1BC9DB4E-AE46-4D87-A356-927599B88874}" srcId="{5401ACCE-1017-4E9B-B593-0555F5827D67}" destId="{F3CD206D-2D90-4A40-8703-327A0B13B883}" srcOrd="1" destOrd="0" parTransId="{85F3297C-4E1A-400F-AE0C-11D013472304}" sibTransId="{E3EBC728-C64B-4866-A563-0EF67F88FFE0}"/>
    <dgm:cxn modelId="{996E698A-B357-4678-A8DA-F5E3FF83D033}" type="presOf" srcId="{A51CE234-C046-4881-99DC-32F0CECF83AB}" destId="{B7949C1C-50DC-4D29-9E8E-8B95EA375BA5}" srcOrd="0" destOrd="0" presId="urn:microsoft.com/office/officeart/2018/5/layout/IconCircleLabelList"/>
    <dgm:cxn modelId="{FAB79EA2-2C24-4367-A562-F10AA3A07092}" type="presOf" srcId="{95FDC4AA-E5DB-4B9E-8CC4-7D713BA47424}" destId="{1289D6DB-D485-4B3B-B485-50564AA070F3}" srcOrd="0" destOrd="0" presId="urn:microsoft.com/office/officeart/2018/5/layout/IconCircleLabelList"/>
    <dgm:cxn modelId="{3D0F13B6-DDAB-464D-A100-FEA37CC14BDC}" type="presOf" srcId="{36562492-3771-4434-8FF5-0A1851109007}" destId="{4CC6E855-620E-46B4-91A4-065F36AD401E}" srcOrd="0" destOrd="0" presId="urn:microsoft.com/office/officeart/2018/5/layout/IconCircleLabelList"/>
    <dgm:cxn modelId="{1F523CC7-0EDA-4E19-858E-365171AAC2F1}" type="presOf" srcId="{F3CD206D-2D90-4A40-8703-327A0B13B883}" destId="{9DE6D9E9-5049-444B-A701-F7A0D45135CB}" srcOrd="0" destOrd="0" presId="urn:microsoft.com/office/officeart/2018/5/layout/IconCircleLabelList"/>
    <dgm:cxn modelId="{D7B724EF-EC38-4A91-AEE9-92B6DBADE00E}" type="presParOf" srcId="{ED5E231C-2B90-4FAD-A758-D2566DDBC5E1}" destId="{FE18F06E-F85B-4430-A9DD-AD137C94FAAF}" srcOrd="0" destOrd="0" presId="urn:microsoft.com/office/officeart/2018/5/layout/IconCircleLabelList"/>
    <dgm:cxn modelId="{7DAE1182-CE24-4AF9-845F-6FFA76EB7022}" type="presParOf" srcId="{FE18F06E-F85B-4430-A9DD-AD137C94FAAF}" destId="{BD117475-D6AB-4F5C-B801-803E87FA237D}" srcOrd="0" destOrd="0" presId="urn:microsoft.com/office/officeart/2018/5/layout/IconCircleLabelList"/>
    <dgm:cxn modelId="{DAD69219-BD39-4832-84D7-83480A37179B}" type="presParOf" srcId="{FE18F06E-F85B-4430-A9DD-AD137C94FAAF}" destId="{C5B9CD0A-0321-4BC4-B9B2-625F979A3144}" srcOrd="1" destOrd="0" presId="urn:microsoft.com/office/officeart/2018/5/layout/IconCircleLabelList"/>
    <dgm:cxn modelId="{9C408F0F-E71B-41C9-8355-730AEDA3C2A3}" type="presParOf" srcId="{FE18F06E-F85B-4430-A9DD-AD137C94FAAF}" destId="{A8C3EFCA-1517-44B8-949A-2D0D793C08D8}" srcOrd="2" destOrd="0" presId="urn:microsoft.com/office/officeart/2018/5/layout/IconCircleLabelList"/>
    <dgm:cxn modelId="{7B8C0876-E28D-4C1C-9687-7BB02AD67F5A}" type="presParOf" srcId="{FE18F06E-F85B-4430-A9DD-AD137C94FAAF}" destId="{1289D6DB-D485-4B3B-B485-50564AA070F3}" srcOrd="3" destOrd="0" presId="urn:microsoft.com/office/officeart/2018/5/layout/IconCircleLabelList"/>
    <dgm:cxn modelId="{D51A90FA-94C8-434A-A4E4-081D366D8345}" type="presParOf" srcId="{ED5E231C-2B90-4FAD-A758-D2566DDBC5E1}" destId="{DEB90A09-E764-42F0-8A96-88283AF66742}" srcOrd="1" destOrd="0" presId="urn:microsoft.com/office/officeart/2018/5/layout/IconCircleLabelList"/>
    <dgm:cxn modelId="{38850C10-327B-48C5-AB20-37581CE8D072}" type="presParOf" srcId="{ED5E231C-2B90-4FAD-A758-D2566DDBC5E1}" destId="{B6044CAB-C67E-4DDB-88D5-DE2C99A06B6F}" srcOrd="2" destOrd="0" presId="urn:microsoft.com/office/officeart/2018/5/layout/IconCircleLabelList"/>
    <dgm:cxn modelId="{390AA15A-0C8B-47CB-8AF4-C321D79B0D43}" type="presParOf" srcId="{B6044CAB-C67E-4DDB-88D5-DE2C99A06B6F}" destId="{5534A3A2-0435-47AD-89A6-9EAA9B8A375B}" srcOrd="0" destOrd="0" presId="urn:microsoft.com/office/officeart/2018/5/layout/IconCircleLabelList"/>
    <dgm:cxn modelId="{0A6E2CD2-C905-4325-A073-A0BEA6306CAE}" type="presParOf" srcId="{B6044CAB-C67E-4DDB-88D5-DE2C99A06B6F}" destId="{F392A34F-5759-47C8-9BBF-31964876CB1A}" srcOrd="1" destOrd="0" presId="urn:microsoft.com/office/officeart/2018/5/layout/IconCircleLabelList"/>
    <dgm:cxn modelId="{ED643BED-1386-4593-ACC4-B1B59D5B7BDD}" type="presParOf" srcId="{B6044CAB-C67E-4DDB-88D5-DE2C99A06B6F}" destId="{9031FAD7-7741-4410-ACAA-585AC2AD1B3B}" srcOrd="2" destOrd="0" presId="urn:microsoft.com/office/officeart/2018/5/layout/IconCircleLabelList"/>
    <dgm:cxn modelId="{F0960A3C-42FE-4451-B2F9-911179A5C308}" type="presParOf" srcId="{B6044CAB-C67E-4DDB-88D5-DE2C99A06B6F}" destId="{9DE6D9E9-5049-444B-A701-F7A0D45135CB}" srcOrd="3" destOrd="0" presId="urn:microsoft.com/office/officeart/2018/5/layout/IconCircleLabelList"/>
    <dgm:cxn modelId="{3F5FEA1D-064A-41EC-B488-18FE41329C97}" type="presParOf" srcId="{ED5E231C-2B90-4FAD-A758-D2566DDBC5E1}" destId="{97933195-1C75-49A8-A7DD-BAC6604C5078}" srcOrd="3" destOrd="0" presId="urn:microsoft.com/office/officeart/2018/5/layout/IconCircleLabelList"/>
    <dgm:cxn modelId="{89F86D6B-F742-45BF-89A7-40BDB47D284A}" type="presParOf" srcId="{ED5E231C-2B90-4FAD-A758-D2566DDBC5E1}" destId="{FB9CB683-6E77-4CE6-90C2-F383CDFB20A7}" srcOrd="4" destOrd="0" presId="urn:microsoft.com/office/officeart/2018/5/layout/IconCircleLabelList"/>
    <dgm:cxn modelId="{7EFE77AC-6940-40AE-8301-CF022AD2FA58}" type="presParOf" srcId="{FB9CB683-6E77-4CE6-90C2-F383CDFB20A7}" destId="{211B6C13-7521-4BD2-AE31-55640BF60220}" srcOrd="0" destOrd="0" presId="urn:microsoft.com/office/officeart/2018/5/layout/IconCircleLabelList"/>
    <dgm:cxn modelId="{1E38C63E-BE7D-4974-8172-E435350A16E8}" type="presParOf" srcId="{FB9CB683-6E77-4CE6-90C2-F383CDFB20A7}" destId="{5280CEA1-D803-4334-9AC9-28B35522F1AA}" srcOrd="1" destOrd="0" presId="urn:microsoft.com/office/officeart/2018/5/layout/IconCircleLabelList"/>
    <dgm:cxn modelId="{62F69CE3-468D-4F82-8D94-30B0C6A00577}" type="presParOf" srcId="{FB9CB683-6E77-4CE6-90C2-F383CDFB20A7}" destId="{CD2553EC-0C7A-449F-B70E-3140BDDFB980}" srcOrd="2" destOrd="0" presId="urn:microsoft.com/office/officeart/2018/5/layout/IconCircleLabelList"/>
    <dgm:cxn modelId="{4AB19FAB-5970-451D-9FF3-7BF8E2839A5B}" type="presParOf" srcId="{FB9CB683-6E77-4CE6-90C2-F383CDFB20A7}" destId="{B7949C1C-50DC-4D29-9E8E-8B95EA375BA5}" srcOrd="3" destOrd="0" presId="urn:microsoft.com/office/officeart/2018/5/layout/IconCircleLabelList"/>
    <dgm:cxn modelId="{AA6449E5-7F70-4BC9-B7D3-94654249C036}" type="presParOf" srcId="{ED5E231C-2B90-4FAD-A758-D2566DDBC5E1}" destId="{356949D8-9E47-4B98-A4B3-E2374A19A28E}" srcOrd="5" destOrd="0" presId="urn:microsoft.com/office/officeart/2018/5/layout/IconCircleLabelList"/>
    <dgm:cxn modelId="{A9EA914D-DA07-47F9-9A2E-F317957BA2F0}" type="presParOf" srcId="{ED5E231C-2B90-4FAD-A758-D2566DDBC5E1}" destId="{6E9F36D2-4843-4B44-97A9-036556B094E4}" srcOrd="6" destOrd="0" presId="urn:microsoft.com/office/officeart/2018/5/layout/IconCircleLabelList"/>
    <dgm:cxn modelId="{1D7E3978-C7C2-4B43-B98D-70390787DA40}" type="presParOf" srcId="{6E9F36D2-4843-4B44-97A9-036556B094E4}" destId="{EAC3D864-5809-4757-9318-B02ACF6FBF39}" srcOrd="0" destOrd="0" presId="urn:microsoft.com/office/officeart/2018/5/layout/IconCircleLabelList"/>
    <dgm:cxn modelId="{A35A7AB2-655C-442E-9C86-F6C9E3139A6A}" type="presParOf" srcId="{6E9F36D2-4843-4B44-97A9-036556B094E4}" destId="{20CAAE63-FF63-4D50-B1CF-11B8844466E8}" srcOrd="1" destOrd="0" presId="urn:microsoft.com/office/officeart/2018/5/layout/IconCircleLabelList"/>
    <dgm:cxn modelId="{9D35E4CD-DD37-4D1A-93F5-02A5EA31EC98}" type="presParOf" srcId="{6E9F36D2-4843-4B44-97A9-036556B094E4}" destId="{A78B0006-D451-4F4A-A70E-7EC15DD01757}" srcOrd="2" destOrd="0" presId="urn:microsoft.com/office/officeart/2018/5/layout/IconCircleLabelList"/>
    <dgm:cxn modelId="{4383F273-DE34-485D-A3BC-4BBC6D1D1151}" type="presParOf" srcId="{6E9F36D2-4843-4B44-97A9-036556B094E4}" destId="{4CC6E855-620E-46B4-91A4-065F36AD401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5B8114-6F83-4784-B103-B368E56D3E67}" type="doc">
      <dgm:prSet loTypeId="urn:microsoft.com/office/officeart/2005/8/layout/vProcess5" loCatId="process" qsTypeId="urn:microsoft.com/office/officeart/2005/8/quickstyle/simple2" qsCatId="simple" csTypeId="urn:microsoft.com/office/officeart/2005/8/colors/colorful1" csCatId="colorful" phldr="1"/>
      <dgm:spPr/>
      <dgm:t>
        <a:bodyPr/>
        <a:lstStyle/>
        <a:p>
          <a:endParaRPr lang="en-US"/>
        </a:p>
      </dgm:t>
    </dgm:pt>
    <dgm:pt modelId="{6619F94F-EB9E-42B9-806F-4EC43551419F}">
      <dgm:prSet/>
      <dgm:spPr/>
      <dgm:t>
        <a:bodyPr/>
        <a:lstStyle/>
        <a:p>
          <a:r>
            <a:rPr lang="en-US" dirty="0"/>
            <a:t>Imported SQL tables and CSV (regions) into Power Query</a:t>
          </a:r>
        </a:p>
      </dgm:t>
    </dgm:pt>
    <dgm:pt modelId="{0814BE9A-0809-4020-B949-B1CC96752281}" type="parTrans" cxnId="{5F800CB2-2DC1-4113-B09F-FBC00205798B}">
      <dgm:prSet/>
      <dgm:spPr/>
      <dgm:t>
        <a:bodyPr/>
        <a:lstStyle/>
        <a:p>
          <a:endParaRPr lang="en-US"/>
        </a:p>
      </dgm:t>
    </dgm:pt>
    <dgm:pt modelId="{A74C7A57-D144-433E-95FF-6BB72BCFC280}" type="sibTrans" cxnId="{5F800CB2-2DC1-4113-B09F-FBC00205798B}">
      <dgm:prSet/>
      <dgm:spPr/>
      <dgm:t>
        <a:bodyPr/>
        <a:lstStyle/>
        <a:p>
          <a:endParaRPr lang="en-US"/>
        </a:p>
      </dgm:t>
    </dgm:pt>
    <dgm:pt modelId="{148B5C46-C326-4766-9C05-82D46D6A939F}">
      <dgm:prSet/>
      <dgm:spPr/>
      <dgm:t>
        <a:bodyPr/>
        <a:lstStyle/>
        <a:p>
          <a:r>
            <a:rPr lang="en-US" dirty="0"/>
            <a:t>Renamed columns (e.g., SK, BK), removed or added fields as needed</a:t>
          </a:r>
        </a:p>
      </dgm:t>
    </dgm:pt>
    <dgm:pt modelId="{8B9799C7-3D5A-4A8E-9FB3-92AFB6190769}" type="parTrans" cxnId="{FE68805E-00D9-427B-BB96-EA133CAC16F7}">
      <dgm:prSet/>
      <dgm:spPr/>
      <dgm:t>
        <a:bodyPr/>
        <a:lstStyle/>
        <a:p>
          <a:endParaRPr lang="en-US"/>
        </a:p>
      </dgm:t>
    </dgm:pt>
    <dgm:pt modelId="{E7AF80C9-28AD-4EE5-A0CC-9CE82962C802}" type="sibTrans" cxnId="{FE68805E-00D9-427B-BB96-EA133CAC16F7}">
      <dgm:prSet/>
      <dgm:spPr/>
      <dgm:t>
        <a:bodyPr/>
        <a:lstStyle/>
        <a:p>
          <a:endParaRPr lang="en-US"/>
        </a:p>
      </dgm:t>
    </dgm:pt>
    <dgm:pt modelId="{C9BD6B4C-532D-422A-90E9-CFD5EB76CB85}">
      <dgm:prSet/>
      <dgm:spPr/>
      <dgm:t>
        <a:bodyPr/>
        <a:lstStyle/>
        <a:p>
          <a:r>
            <a:rPr lang="en-US" dirty="0"/>
            <a:t>Performed data cleansing: handled nulls, standardized formats</a:t>
          </a:r>
        </a:p>
      </dgm:t>
    </dgm:pt>
    <dgm:pt modelId="{433AE2F6-7513-440A-BC50-682B5C927D64}" type="parTrans" cxnId="{5A12C586-366C-4A55-95D8-B524EDBA5070}">
      <dgm:prSet/>
      <dgm:spPr/>
      <dgm:t>
        <a:bodyPr/>
        <a:lstStyle/>
        <a:p>
          <a:endParaRPr lang="en-US"/>
        </a:p>
      </dgm:t>
    </dgm:pt>
    <dgm:pt modelId="{25C65783-B322-4D3C-B0C4-0A6E69188703}" type="sibTrans" cxnId="{5A12C586-366C-4A55-95D8-B524EDBA5070}">
      <dgm:prSet/>
      <dgm:spPr/>
      <dgm:t>
        <a:bodyPr/>
        <a:lstStyle/>
        <a:p>
          <a:endParaRPr lang="en-US"/>
        </a:p>
      </dgm:t>
    </dgm:pt>
    <dgm:pt modelId="{0244C71B-6A9C-4E37-8008-2DD324E6678C}">
      <dgm:prSet/>
      <dgm:spPr/>
      <dgm:t>
        <a:bodyPr/>
        <a:lstStyle/>
        <a:p>
          <a:r>
            <a:rPr lang="en-US" dirty="0"/>
            <a:t>Defined Fact and Dimension tables</a:t>
          </a:r>
        </a:p>
      </dgm:t>
    </dgm:pt>
    <dgm:pt modelId="{EC39B25E-D816-48F9-8ADF-93C52CCDE2A6}" type="parTrans" cxnId="{7A48D1C8-2DC4-4F1E-A99D-C4A527727577}">
      <dgm:prSet/>
      <dgm:spPr/>
      <dgm:t>
        <a:bodyPr/>
        <a:lstStyle/>
        <a:p>
          <a:endParaRPr lang="en-US"/>
        </a:p>
      </dgm:t>
    </dgm:pt>
    <dgm:pt modelId="{7CF27F23-9980-4BC8-A38D-A6EB80C0088F}" type="sibTrans" cxnId="{7A48D1C8-2DC4-4F1E-A99D-C4A527727577}">
      <dgm:prSet/>
      <dgm:spPr/>
      <dgm:t>
        <a:bodyPr/>
        <a:lstStyle/>
        <a:p>
          <a:endParaRPr lang="en-US"/>
        </a:p>
      </dgm:t>
    </dgm:pt>
    <dgm:pt modelId="{FACAD787-573C-43F2-B84E-36B3AE64D5AD}">
      <dgm:prSet/>
      <dgm:spPr/>
      <dgm:t>
        <a:bodyPr/>
        <a:lstStyle/>
        <a:p>
          <a:r>
            <a:rPr lang="en-US" dirty="0"/>
            <a:t>Created a custom </a:t>
          </a:r>
          <a:r>
            <a:rPr lang="en-US" b="1" dirty="0" err="1"/>
            <a:t>Dim_Date</a:t>
          </a:r>
          <a:r>
            <a:rPr lang="en-US" dirty="0"/>
            <a:t> table using start and end years</a:t>
          </a:r>
          <a:br>
            <a:rPr lang="en-US" dirty="0"/>
          </a:br>
          <a:r>
            <a:rPr lang="en-US" dirty="0"/>
            <a:t> Generated continuous dates based on quarters, with random days and order</a:t>
          </a:r>
          <a:br>
            <a:rPr lang="en-US" dirty="0"/>
          </a:br>
          <a:r>
            <a:rPr lang="en-US" dirty="0"/>
            <a:t> Created </a:t>
          </a:r>
          <a:r>
            <a:rPr lang="en-US" dirty="0" err="1"/>
            <a:t>DateKey</a:t>
          </a:r>
          <a:r>
            <a:rPr lang="en-US" dirty="0"/>
            <a:t> for relationships</a:t>
          </a:r>
        </a:p>
      </dgm:t>
    </dgm:pt>
    <dgm:pt modelId="{BCDB943D-8E9F-43CA-A116-099C80190B80}" type="parTrans" cxnId="{1793F78D-6A30-4AA8-8291-80A0E34A73C0}">
      <dgm:prSet/>
      <dgm:spPr/>
      <dgm:t>
        <a:bodyPr/>
        <a:lstStyle/>
        <a:p>
          <a:endParaRPr lang="en-US"/>
        </a:p>
      </dgm:t>
    </dgm:pt>
    <dgm:pt modelId="{52C24001-1EC2-4E45-8320-151DD688E5DF}" type="sibTrans" cxnId="{1793F78D-6A30-4AA8-8291-80A0E34A73C0}">
      <dgm:prSet/>
      <dgm:spPr/>
      <dgm:t>
        <a:bodyPr/>
        <a:lstStyle/>
        <a:p>
          <a:endParaRPr lang="en-US"/>
        </a:p>
      </dgm:t>
    </dgm:pt>
    <dgm:pt modelId="{77A230D1-1E2B-4B36-9575-BFC25286FA4C}" type="pres">
      <dgm:prSet presAssocID="{0D5B8114-6F83-4784-B103-B368E56D3E67}" presName="outerComposite" presStyleCnt="0">
        <dgm:presLayoutVars>
          <dgm:chMax val="5"/>
          <dgm:dir/>
          <dgm:resizeHandles val="exact"/>
        </dgm:presLayoutVars>
      </dgm:prSet>
      <dgm:spPr/>
    </dgm:pt>
    <dgm:pt modelId="{2EC11C7C-A50C-4E73-9239-31E1D9B5549F}" type="pres">
      <dgm:prSet presAssocID="{0D5B8114-6F83-4784-B103-B368E56D3E67}" presName="dummyMaxCanvas" presStyleCnt="0">
        <dgm:presLayoutVars/>
      </dgm:prSet>
      <dgm:spPr/>
    </dgm:pt>
    <dgm:pt modelId="{69204F54-994C-47A7-8A5C-568D08133AF6}" type="pres">
      <dgm:prSet presAssocID="{0D5B8114-6F83-4784-B103-B368E56D3E67}" presName="FiveNodes_1" presStyleLbl="node1" presStyleIdx="0" presStyleCnt="5">
        <dgm:presLayoutVars>
          <dgm:bulletEnabled val="1"/>
        </dgm:presLayoutVars>
      </dgm:prSet>
      <dgm:spPr/>
    </dgm:pt>
    <dgm:pt modelId="{D5828EA2-EE6B-4712-971F-45B66B3AC3F5}" type="pres">
      <dgm:prSet presAssocID="{0D5B8114-6F83-4784-B103-B368E56D3E67}" presName="FiveNodes_2" presStyleLbl="node1" presStyleIdx="1" presStyleCnt="5">
        <dgm:presLayoutVars>
          <dgm:bulletEnabled val="1"/>
        </dgm:presLayoutVars>
      </dgm:prSet>
      <dgm:spPr/>
    </dgm:pt>
    <dgm:pt modelId="{C9B9BFDE-A809-4B7B-B3C8-64B17EA9AB50}" type="pres">
      <dgm:prSet presAssocID="{0D5B8114-6F83-4784-B103-B368E56D3E67}" presName="FiveNodes_3" presStyleLbl="node1" presStyleIdx="2" presStyleCnt="5">
        <dgm:presLayoutVars>
          <dgm:bulletEnabled val="1"/>
        </dgm:presLayoutVars>
      </dgm:prSet>
      <dgm:spPr/>
    </dgm:pt>
    <dgm:pt modelId="{F484CF40-F2A6-4145-9C87-EAC120048F30}" type="pres">
      <dgm:prSet presAssocID="{0D5B8114-6F83-4784-B103-B368E56D3E67}" presName="FiveNodes_4" presStyleLbl="node1" presStyleIdx="3" presStyleCnt="5">
        <dgm:presLayoutVars>
          <dgm:bulletEnabled val="1"/>
        </dgm:presLayoutVars>
      </dgm:prSet>
      <dgm:spPr/>
    </dgm:pt>
    <dgm:pt modelId="{5376F18E-28AF-411D-B7EB-75D644A30DFA}" type="pres">
      <dgm:prSet presAssocID="{0D5B8114-6F83-4784-B103-B368E56D3E67}" presName="FiveNodes_5" presStyleLbl="node1" presStyleIdx="4" presStyleCnt="5">
        <dgm:presLayoutVars>
          <dgm:bulletEnabled val="1"/>
        </dgm:presLayoutVars>
      </dgm:prSet>
      <dgm:spPr/>
    </dgm:pt>
    <dgm:pt modelId="{B6F5B886-8133-4EA5-89DB-690997AAAF72}" type="pres">
      <dgm:prSet presAssocID="{0D5B8114-6F83-4784-B103-B368E56D3E67}" presName="FiveConn_1-2" presStyleLbl="fgAccFollowNode1" presStyleIdx="0" presStyleCnt="4">
        <dgm:presLayoutVars>
          <dgm:bulletEnabled val="1"/>
        </dgm:presLayoutVars>
      </dgm:prSet>
      <dgm:spPr/>
    </dgm:pt>
    <dgm:pt modelId="{0403D7C4-7348-46F8-8F8B-99931F5ABF54}" type="pres">
      <dgm:prSet presAssocID="{0D5B8114-6F83-4784-B103-B368E56D3E67}" presName="FiveConn_2-3" presStyleLbl="fgAccFollowNode1" presStyleIdx="1" presStyleCnt="4">
        <dgm:presLayoutVars>
          <dgm:bulletEnabled val="1"/>
        </dgm:presLayoutVars>
      </dgm:prSet>
      <dgm:spPr/>
    </dgm:pt>
    <dgm:pt modelId="{F3588BD9-90CE-4406-87F1-74B36DF1100B}" type="pres">
      <dgm:prSet presAssocID="{0D5B8114-6F83-4784-B103-B368E56D3E67}" presName="FiveConn_3-4" presStyleLbl="fgAccFollowNode1" presStyleIdx="2" presStyleCnt="4">
        <dgm:presLayoutVars>
          <dgm:bulletEnabled val="1"/>
        </dgm:presLayoutVars>
      </dgm:prSet>
      <dgm:spPr/>
    </dgm:pt>
    <dgm:pt modelId="{92574310-1606-4DD0-A12E-513F93AEF90E}" type="pres">
      <dgm:prSet presAssocID="{0D5B8114-6F83-4784-B103-B368E56D3E67}" presName="FiveConn_4-5" presStyleLbl="fgAccFollowNode1" presStyleIdx="3" presStyleCnt="4">
        <dgm:presLayoutVars>
          <dgm:bulletEnabled val="1"/>
        </dgm:presLayoutVars>
      </dgm:prSet>
      <dgm:spPr/>
    </dgm:pt>
    <dgm:pt modelId="{39729C0C-B926-455A-9585-1717861DD45C}" type="pres">
      <dgm:prSet presAssocID="{0D5B8114-6F83-4784-B103-B368E56D3E67}" presName="FiveNodes_1_text" presStyleLbl="node1" presStyleIdx="4" presStyleCnt="5">
        <dgm:presLayoutVars>
          <dgm:bulletEnabled val="1"/>
        </dgm:presLayoutVars>
      </dgm:prSet>
      <dgm:spPr/>
    </dgm:pt>
    <dgm:pt modelId="{B8C59F4A-0042-400D-B070-6B60A545FF5F}" type="pres">
      <dgm:prSet presAssocID="{0D5B8114-6F83-4784-B103-B368E56D3E67}" presName="FiveNodes_2_text" presStyleLbl="node1" presStyleIdx="4" presStyleCnt="5">
        <dgm:presLayoutVars>
          <dgm:bulletEnabled val="1"/>
        </dgm:presLayoutVars>
      </dgm:prSet>
      <dgm:spPr/>
    </dgm:pt>
    <dgm:pt modelId="{38CE335C-C6C5-4F72-8883-2950FF19CDDB}" type="pres">
      <dgm:prSet presAssocID="{0D5B8114-6F83-4784-B103-B368E56D3E67}" presName="FiveNodes_3_text" presStyleLbl="node1" presStyleIdx="4" presStyleCnt="5">
        <dgm:presLayoutVars>
          <dgm:bulletEnabled val="1"/>
        </dgm:presLayoutVars>
      </dgm:prSet>
      <dgm:spPr/>
    </dgm:pt>
    <dgm:pt modelId="{E1779909-C36B-41DC-89A5-182CE5886209}" type="pres">
      <dgm:prSet presAssocID="{0D5B8114-6F83-4784-B103-B368E56D3E67}" presName="FiveNodes_4_text" presStyleLbl="node1" presStyleIdx="4" presStyleCnt="5">
        <dgm:presLayoutVars>
          <dgm:bulletEnabled val="1"/>
        </dgm:presLayoutVars>
      </dgm:prSet>
      <dgm:spPr/>
    </dgm:pt>
    <dgm:pt modelId="{99FD66AA-0AA5-4758-B3CE-F7045E78874B}" type="pres">
      <dgm:prSet presAssocID="{0D5B8114-6F83-4784-B103-B368E56D3E67}" presName="FiveNodes_5_text" presStyleLbl="node1" presStyleIdx="4" presStyleCnt="5">
        <dgm:presLayoutVars>
          <dgm:bulletEnabled val="1"/>
        </dgm:presLayoutVars>
      </dgm:prSet>
      <dgm:spPr/>
    </dgm:pt>
  </dgm:ptLst>
  <dgm:cxnLst>
    <dgm:cxn modelId="{BC617C15-EF8D-4006-8EE5-23A7151A5CBB}" type="presOf" srcId="{7CF27F23-9980-4BC8-A38D-A6EB80C0088F}" destId="{92574310-1606-4DD0-A12E-513F93AEF90E}" srcOrd="0" destOrd="0" presId="urn:microsoft.com/office/officeart/2005/8/layout/vProcess5"/>
    <dgm:cxn modelId="{B9706417-4005-495E-AFB0-D1AD2DD06B87}" type="presOf" srcId="{FACAD787-573C-43F2-B84E-36B3AE64D5AD}" destId="{5376F18E-28AF-411D-B7EB-75D644A30DFA}" srcOrd="0" destOrd="0" presId="urn:microsoft.com/office/officeart/2005/8/layout/vProcess5"/>
    <dgm:cxn modelId="{E4D7B321-BF72-45C6-BA89-D9A48396EE42}" type="presOf" srcId="{0D5B8114-6F83-4784-B103-B368E56D3E67}" destId="{77A230D1-1E2B-4B36-9575-BFC25286FA4C}" srcOrd="0" destOrd="0" presId="urn:microsoft.com/office/officeart/2005/8/layout/vProcess5"/>
    <dgm:cxn modelId="{D004802B-21B6-443C-8290-3E2B672DE33C}" type="presOf" srcId="{0244C71B-6A9C-4E37-8008-2DD324E6678C}" destId="{E1779909-C36B-41DC-89A5-182CE5886209}" srcOrd="1" destOrd="0" presId="urn:microsoft.com/office/officeart/2005/8/layout/vProcess5"/>
    <dgm:cxn modelId="{9DA30538-FC3D-4495-B5DF-E2757FAE1B02}" type="presOf" srcId="{6619F94F-EB9E-42B9-806F-4EC43551419F}" destId="{39729C0C-B926-455A-9585-1717861DD45C}" srcOrd="1" destOrd="0" presId="urn:microsoft.com/office/officeart/2005/8/layout/vProcess5"/>
    <dgm:cxn modelId="{2B9D6038-FCF7-4A12-A7DC-484BB566A808}" type="presOf" srcId="{148B5C46-C326-4766-9C05-82D46D6A939F}" destId="{B8C59F4A-0042-400D-B070-6B60A545FF5F}" srcOrd="1" destOrd="0" presId="urn:microsoft.com/office/officeart/2005/8/layout/vProcess5"/>
    <dgm:cxn modelId="{FE68805E-00D9-427B-BB96-EA133CAC16F7}" srcId="{0D5B8114-6F83-4784-B103-B368E56D3E67}" destId="{148B5C46-C326-4766-9C05-82D46D6A939F}" srcOrd="1" destOrd="0" parTransId="{8B9799C7-3D5A-4A8E-9FB3-92AFB6190769}" sibTransId="{E7AF80C9-28AD-4EE5-A0CC-9CE82962C802}"/>
    <dgm:cxn modelId="{0647E841-0AB6-47BE-B6EB-C3D7DA91F910}" type="presOf" srcId="{C9BD6B4C-532D-422A-90E9-CFD5EB76CB85}" destId="{38CE335C-C6C5-4F72-8883-2950FF19CDDB}" srcOrd="1" destOrd="0" presId="urn:microsoft.com/office/officeart/2005/8/layout/vProcess5"/>
    <dgm:cxn modelId="{CE248A4E-039C-4FC1-8485-216FE5E24FB5}" type="presOf" srcId="{6619F94F-EB9E-42B9-806F-4EC43551419F}" destId="{69204F54-994C-47A7-8A5C-568D08133AF6}" srcOrd="0" destOrd="0" presId="urn:microsoft.com/office/officeart/2005/8/layout/vProcess5"/>
    <dgm:cxn modelId="{5A12C586-366C-4A55-95D8-B524EDBA5070}" srcId="{0D5B8114-6F83-4784-B103-B368E56D3E67}" destId="{C9BD6B4C-532D-422A-90E9-CFD5EB76CB85}" srcOrd="2" destOrd="0" parTransId="{433AE2F6-7513-440A-BC50-682B5C927D64}" sibTransId="{25C65783-B322-4D3C-B0C4-0A6E69188703}"/>
    <dgm:cxn modelId="{1793F78D-6A30-4AA8-8291-80A0E34A73C0}" srcId="{0D5B8114-6F83-4784-B103-B368E56D3E67}" destId="{FACAD787-573C-43F2-B84E-36B3AE64D5AD}" srcOrd="4" destOrd="0" parTransId="{BCDB943D-8E9F-43CA-A116-099C80190B80}" sibTransId="{52C24001-1EC2-4E45-8320-151DD688E5DF}"/>
    <dgm:cxn modelId="{A810E096-1FD9-4231-BD64-FFEEFF66476D}" type="presOf" srcId="{148B5C46-C326-4766-9C05-82D46D6A939F}" destId="{D5828EA2-EE6B-4712-971F-45B66B3AC3F5}" srcOrd="0" destOrd="0" presId="urn:microsoft.com/office/officeart/2005/8/layout/vProcess5"/>
    <dgm:cxn modelId="{90783698-8153-4C62-8C04-B793E10B3838}" type="presOf" srcId="{E7AF80C9-28AD-4EE5-A0CC-9CE82962C802}" destId="{0403D7C4-7348-46F8-8F8B-99931F5ABF54}" srcOrd="0" destOrd="0" presId="urn:microsoft.com/office/officeart/2005/8/layout/vProcess5"/>
    <dgm:cxn modelId="{31853B9E-6CA8-4C6D-97E0-6920014F8032}" type="presOf" srcId="{C9BD6B4C-532D-422A-90E9-CFD5EB76CB85}" destId="{C9B9BFDE-A809-4B7B-B3C8-64B17EA9AB50}" srcOrd="0" destOrd="0" presId="urn:microsoft.com/office/officeart/2005/8/layout/vProcess5"/>
    <dgm:cxn modelId="{5F800CB2-2DC1-4113-B09F-FBC00205798B}" srcId="{0D5B8114-6F83-4784-B103-B368E56D3E67}" destId="{6619F94F-EB9E-42B9-806F-4EC43551419F}" srcOrd="0" destOrd="0" parTransId="{0814BE9A-0809-4020-B949-B1CC96752281}" sibTransId="{A74C7A57-D144-433E-95FF-6BB72BCFC280}"/>
    <dgm:cxn modelId="{1430FBB5-B442-4353-8DD1-653CD3098C63}" type="presOf" srcId="{A74C7A57-D144-433E-95FF-6BB72BCFC280}" destId="{B6F5B886-8133-4EA5-89DB-690997AAAF72}" srcOrd="0" destOrd="0" presId="urn:microsoft.com/office/officeart/2005/8/layout/vProcess5"/>
    <dgm:cxn modelId="{342806C1-6714-46FF-A4D5-3BD7D55CD679}" type="presOf" srcId="{25C65783-B322-4D3C-B0C4-0A6E69188703}" destId="{F3588BD9-90CE-4406-87F1-74B36DF1100B}" srcOrd="0" destOrd="0" presId="urn:microsoft.com/office/officeart/2005/8/layout/vProcess5"/>
    <dgm:cxn modelId="{7A48D1C8-2DC4-4F1E-A99D-C4A527727577}" srcId="{0D5B8114-6F83-4784-B103-B368E56D3E67}" destId="{0244C71B-6A9C-4E37-8008-2DD324E6678C}" srcOrd="3" destOrd="0" parTransId="{EC39B25E-D816-48F9-8ADF-93C52CCDE2A6}" sibTransId="{7CF27F23-9980-4BC8-A38D-A6EB80C0088F}"/>
    <dgm:cxn modelId="{D93039E2-4721-417B-80C3-350D86F43C4A}" type="presOf" srcId="{FACAD787-573C-43F2-B84E-36B3AE64D5AD}" destId="{99FD66AA-0AA5-4758-B3CE-F7045E78874B}" srcOrd="1" destOrd="0" presId="urn:microsoft.com/office/officeart/2005/8/layout/vProcess5"/>
    <dgm:cxn modelId="{2F4496F4-0837-4A30-AF47-85E60877370D}" type="presOf" srcId="{0244C71B-6A9C-4E37-8008-2DD324E6678C}" destId="{F484CF40-F2A6-4145-9C87-EAC120048F30}" srcOrd="0" destOrd="0" presId="urn:microsoft.com/office/officeart/2005/8/layout/vProcess5"/>
    <dgm:cxn modelId="{1139CE66-78B0-4B6D-A87B-D06BB4BC9221}" type="presParOf" srcId="{77A230D1-1E2B-4B36-9575-BFC25286FA4C}" destId="{2EC11C7C-A50C-4E73-9239-31E1D9B5549F}" srcOrd="0" destOrd="0" presId="urn:microsoft.com/office/officeart/2005/8/layout/vProcess5"/>
    <dgm:cxn modelId="{AE32C4C2-196D-419D-9710-3BE510A27EB3}" type="presParOf" srcId="{77A230D1-1E2B-4B36-9575-BFC25286FA4C}" destId="{69204F54-994C-47A7-8A5C-568D08133AF6}" srcOrd="1" destOrd="0" presId="urn:microsoft.com/office/officeart/2005/8/layout/vProcess5"/>
    <dgm:cxn modelId="{FEF8E95F-4AD0-4426-906E-3B48412C053A}" type="presParOf" srcId="{77A230D1-1E2B-4B36-9575-BFC25286FA4C}" destId="{D5828EA2-EE6B-4712-971F-45B66B3AC3F5}" srcOrd="2" destOrd="0" presId="urn:microsoft.com/office/officeart/2005/8/layout/vProcess5"/>
    <dgm:cxn modelId="{36799830-B128-4F2B-ACE5-20FFEE16C4D9}" type="presParOf" srcId="{77A230D1-1E2B-4B36-9575-BFC25286FA4C}" destId="{C9B9BFDE-A809-4B7B-B3C8-64B17EA9AB50}" srcOrd="3" destOrd="0" presId="urn:microsoft.com/office/officeart/2005/8/layout/vProcess5"/>
    <dgm:cxn modelId="{9A5CEC8B-AE00-4134-B063-A0BC5DC9733F}" type="presParOf" srcId="{77A230D1-1E2B-4B36-9575-BFC25286FA4C}" destId="{F484CF40-F2A6-4145-9C87-EAC120048F30}" srcOrd="4" destOrd="0" presId="urn:microsoft.com/office/officeart/2005/8/layout/vProcess5"/>
    <dgm:cxn modelId="{C84B3D7D-A0E1-4CCC-8178-D6522849012A}" type="presParOf" srcId="{77A230D1-1E2B-4B36-9575-BFC25286FA4C}" destId="{5376F18E-28AF-411D-B7EB-75D644A30DFA}" srcOrd="5" destOrd="0" presId="urn:microsoft.com/office/officeart/2005/8/layout/vProcess5"/>
    <dgm:cxn modelId="{E2D81E2E-0D65-4B92-B3DA-FC77942B4CA0}" type="presParOf" srcId="{77A230D1-1E2B-4B36-9575-BFC25286FA4C}" destId="{B6F5B886-8133-4EA5-89DB-690997AAAF72}" srcOrd="6" destOrd="0" presId="urn:microsoft.com/office/officeart/2005/8/layout/vProcess5"/>
    <dgm:cxn modelId="{7DDB2C98-E1B9-48BE-AC42-9770DDE6AEE7}" type="presParOf" srcId="{77A230D1-1E2B-4B36-9575-BFC25286FA4C}" destId="{0403D7C4-7348-46F8-8F8B-99931F5ABF54}" srcOrd="7" destOrd="0" presId="urn:microsoft.com/office/officeart/2005/8/layout/vProcess5"/>
    <dgm:cxn modelId="{BBAFB0F8-6257-4CBE-B8E5-9CF070F00140}" type="presParOf" srcId="{77A230D1-1E2B-4B36-9575-BFC25286FA4C}" destId="{F3588BD9-90CE-4406-87F1-74B36DF1100B}" srcOrd="8" destOrd="0" presId="urn:microsoft.com/office/officeart/2005/8/layout/vProcess5"/>
    <dgm:cxn modelId="{B6E35B60-BF0E-4EFB-A535-8CBE9D60C2F6}" type="presParOf" srcId="{77A230D1-1E2B-4B36-9575-BFC25286FA4C}" destId="{92574310-1606-4DD0-A12E-513F93AEF90E}" srcOrd="9" destOrd="0" presId="urn:microsoft.com/office/officeart/2005/8/layout/vProcess5"/>
    <dgm:cxn modelId="{DB807C10-B057-473F-8E6F-661583775B55}" type="presParOf" srcId="{77A230D1-1E2B-4B36-9575-BFC25286FA4C}" destId="{39729C0C-B926-455A-9585-1717861DD45C}" srcOrd="10" destOrd="0" presId="urn:microsoft.com/office/officeart/2005/8/layout/vProcess5"/>
    <dgm:cxn modelId="{2D4F4C61-A8F6-4A71-A90A-A8D29182F9E8}" type="presParOf" srcId="{77A230D1-1E2B-4B36-9575-BFC25286FA4C}" destId="{B8C59F4A-0042-400D-B070-6B60A545FF5F}" srcOrd="11" destOrd="0" presId="urn:microsoft.com/office/officeart/2005/8/layout/vProcess5"/>
    <dgm:cxn modelId="{90B8EEC7-DB85-4F48-96AE-7891F2AF8B18}" type="presParOf" srcId="{77A230D1-1E2B-4B36-9575-BFC25286FA4C}" destId="{38CE335C-C6C5-4F72-8883-2950FF19CDDB}" srcOrd="12" destOrd="0" presId="urn:microsoft.com/office/officeart/2005/8/layout/vProcess5"/>
    <dgm:cxn modelId="{245E3ECE-8AFB-441A-A5FC-AAEF04601663}" type="presParOf" srcId="{77A230D1-1E2B-4B36-9575-BFC25286FA4C}" destId="{E1779909-C36B-41DC-89A5-182CE5886209}" srcOrd="13" destOrd="0" presId="urn:microsoft.com/office/officeart/2005/8/layout/vProcess5"/>
    <dgm:cxn modelId="{D1D6F8D7-A14C-4B82-B3B4-0308B4AAABBC}" type="presParOf" srcId="{77A230D1-1E2B-4B36-9575-BFC25286FA4C}" destId="{99FD66AA-0AA5-4758-B3CE-F7045E78874B}"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AC3737-3438-4228-AD24-EC9D40EA92B1}"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D1BEE930-BCFB-4F86-942C-1FB3A368F39E}">
      <dgm:prSet/>
      <dgm:spPr/>
      <dgm:t>
        <a:bodyPr/>
        <a:lstStyle/>
        <a:p>
          <a:r>
            <a:rPr lang="en-US" dirty="0">
              <a:latin typeface="Georgia Pro Light" panose="02040302050405020303" pitchFamily="18" charset="0"/>
            </a:rPr>
            <a:t>Loaded cleaned data into Power Pivot using Manage Data Model</a:t>
          </a:r>
        </a:p>
      </dgm:t>
    </dgm:pt>
    <dgm:pt modelId="{DF568B26-1A25-4604-9710-19D7C3AD107B}" type="parTrans" cxnId="{A309FE0C-E868-476F-8A40-8CD68389EF6B}">
      <dgm:prSet/>
      <dgm:spPr/>
      <dgm:t>
        <a:bodyPr/>
        <a:lstStyle/>
        <a:p>
          <a:endParaRPr lang="en-US"/>
        </a:p>
      </dgm:t>
    </dgm:pt>
    <dgm:pt modelId="{5659F123-571C-4FF7-BAB7-8F7496C78E3C}" type="sibTrans" cxnId="{A309FE0C-E868-476F-8A40-8CD68389EF6B}">
      <dgm:prSet phldrT="01"/>
      <dgm:spPr/>
      <dgm:t>
        <a:bodyPr/>
        <a:lstStyle/>
        <a:p>
          <a:r>
            <a:rPr lang="en-US"/>
            <a:t>01</a:t>
          </a:r>
        </a:p>
      </dgm:t>
    </dgm:pt>
    <dgm:pt modelId="{4A120F36-6C6C-4D6D-85F9-CCF6A44AC9AF}">
      <dgm:prSet/>
      <dgm:spPr/>
      <dgm:t>
        <a:bodyPr/>
        <a:lstStyle/>
        <a:p>
          <a:r>
            <a:rPr lang="en-US" dirty="0">
              <a:latin typeface="Georgia Pro Light" panose="02040302050405020303" pitchFamily="18" charset="0"/>
            </a:rPr>
            <a:t>Built relationships in the diagram view: connected all dimension keys to </a:t>
          </a:r>
          <a:r>
            <a:rPr lang="en-US" dirty="0" err="1">
              <a:latin typeface="Georgia Pro Light" panose="02040302050405020303" pitchFamily="18" charset="0"/>
            </a:rPr>
            <a:t>Fact_Sales</a:t>
          </a:r>
          <a:endParaRPr lang="en-US" dirty="0">
            <a:latin typeface="Georgia Pro Light" panose="02040302050405020303" pitchFamily="18" charset="0"/>
          </a:endParaRPr>
        </a:p>
      </dgm:t>
    </dgm:pt>
    <dgm:pt modelId="{C63A8490-3DE7-47AF-A83D-1EB04F3C0C8D}" type="parTrans" cxnId="{9FAC3CFE-BE79-4627-8805-97115C5F1D9D}">
      <dgm:prSet/>
      <dgm:spPr/>
      <dgm:t>
        <a:bodyPr/>
        <a:lstStyle/>
        <a:p>
          <a:endParaRPr lang="en-US"/>
        </a:p>
      </dgm:t>
    </dgm:pt>
    <dgm:pt modelId="{09854A65-7815-47E5-8D2A-393550884410}" type="sibTrans" cxnId="{9FAC3CFE-BE79-4627-8805-97115C5F1D9D}">
      <dgm:prSet phldrT="02"/>
      <dgm:spPr/>
      <dgm:t>
        <a:bodyPr/>
        <a:lstStyle/>
        <a:p>
          <a:r>
            <a:rPr lang="en-US"/>
            <a:t>02</a:t>
          </a:r>
        </a:p>
      </dgm:t>
    </dgm:pt>
    <dgm:pt modelId="{23562878-06FA-4F7A-9BCB-55B83E80A634}">
      <dgm:prSet/>
      <dgm:spPr/>
      <dgm:t>
        <a:bodyPr/>
        <a:lstStyle/>
        <a:p>
          <a:r>
            <a:rPr lang="en-US" dirty="0">
              <a:latin typeface="Georgia Pro Light" panose="02040302050405020303" pitchFamily="18" charset="0"/>
            </a:rPr>
            <a:t>Added calculated columns, measures, and KPIs</a:t>
          </a:r>
        </a:p>
      </dgm:t>
    </dgm:pt>
    <dgm:pt modelId="{D8A33573-1F0D-4641-8354-7566BE165F07}" type="parTrans" cxnId="{6509292B-86D2-491E-A708-17F88E065CB2}">
      <dgm:prSet/>
      <dgm:spPr/>
      <dgm:t>
        <a:bodyPr/>
        <a:lstStyle/>
        <a:p>
          <a:endParaRPr lang="en-US"/>
        </a:p>
      </dgm:t>
    </dgm:pt>
    <dgm:pt modelId="{B40D2FD0-BE94-4344-A95D-419D2033F266}" type="sibTrans" cxnId="{6509292B-86D2-491E-A708-17F88E065CB2}">
      <dgm:prSet phldrT="03"/>
      <dgm:spPr/>
      <dgm:t>
        <a:bodyPr/>
        <a:lstStyle/>
        <a:p>
          <a:r>
            <a:rPr lang="en-US"/>
            <a:t>03</a:t>
          </a:r>
        </a:p>
      </dgm:t>
    </dgm:pt>
    <dgm:pt modelId="{E43EBE35-8544-47B7-BC58-6FECA7C8B3C5}">
      <dgm:prSet/>
      <dgm:spPr/>
      <dgm:t>
        <a:bodyPr/>
        <a:lstStyle/>
        <a:p>
          <a:r>
            <a:rPr lang="en-US" dirty="0">
              <a:latin typeface="Georgia Pro Light" panose="02040302050405020303" pitchFamily="18" charset="0"/>
            </a:rPr>
            <a:t>In Excel sheets: inserted PivotTables, </a:t>
          </a:r>
          <a:r>
            <a:rPr lang="en-US" dirty="0" err="1">
              <a:latin typeface="Georgia Pro Light" panose="02040302050405020303" pitchFamily="18" charset="0"/>
            </a:rPr>
            <a:t>PivotCharts</a:t>
          </a:r>
          <a:r>
            <a:rPr lang="en-US" dirty="0">
              <a:latin typeface="Georgia Pro Light" panose="02040302050405020303" pitchFamily="18" charset="0"/>
            </a:rPr>
            <a:t>, and Slicers for filtering</a:t>
          </a:r>
        </a:p>
      </dgm:t>
    </dgm:pt>
    <dgm:pt modelId="{3EC01024-1BC0-4241-914A-E4B0A775749E}" type="parTrans" cxnId="{4B93C78F-F9B6-4FCE-8A84-629ED570A7CE}">
      <dgm:prSet/>
      <dgm:spPr/>
      <dgm:t>
        <a:bodyPr/>
        <a:lstStyle/>
        <a:p>
          <a:endParaRPr lang="en-US"/>
        </a:p>
      </dgm:t>
    </dgm:pt>
    <dgm:pt modelId="{CD93E5D6-A5E7-4733-8E1B-9CEC799AD3B9}" type="sibTrans" cxnId="{4B93C78F-F9B6-4FCE-8A84-629ED570A7CE}">
      <dgm:prSet phldrT="04"/>
      <dgm:spPr/>
      <dgm:t>
        <a:bodyPr/>
        <a:lstStyle/>
        <a:p>
          <a:r>
            <a:rPr lang="en-US"/>
            <a:t>04</a:t>
          </a:r>
        </a:p>
      </dgm:t>
    </dgm:pt>
    <dgm:pt modelId="{1FD0E91C-A4A2-468B-B029-230B2FE2640C}" type="pres">
      <dgm:prSet presAssocID="{89AC3737-3438-4228-AD24-EC9D40EA92B1}" presName="Name0" presStyleCnt="0">
        <dgm:presLayoutVars>
          <dgm:animLvl val="lvl"/>
          <dgm:resizeHandles val="exact"/>
        </dgm:presLayoutVars>
      </dgm:prSet>
      <dgm:spPr/>
    </dgm:pt>
    <dgm:pt modelId="{36354724-F8A4-4EAB-BF54-775D4BBAC8B2}" type="pres">
      <dgm:prSet presAssocID="{D1BEE930-BCFB-4F86-942C-1FB3A368F39E}" presName="compositeNode" presStyleCnt="0">
        <dgm:presLayoutVars>
          <dgm:bulletEnabled val="1"/>
        </dgm:presLayoutVars>
      </dgm:prSet>
      <dgm:spPr/>
    </dgm:pt>
    <dgm:pt modelId="{4D710C29-2C69-49C8-8F02-2EE6AE016644}" type="pres">
      <dgm:prSet presAssocID="{D1BEE930-BCFB-4F86-942C-1FB3A368F39E}" presName="bgRect" presStyleLbl="alignNode1" presStyleIdx="0" presStyleCnt="4"/>
      <dgm:spPr/>
    </dgm:pt>
    <dgm:pt modelId="{1292DFA2-7286-4781-BAA5-E02170CAA084}" type="pres">
      <dgm:prSet presAssocID="{5659F123-571C-4FF7-BAB7-8F7496C78E3C}" presName="sibTransNodeRect" presStyleLbl="alignNode1" presStyleIdx="0" presStyleCnt="4">
        <dgm:presLayoutVars>
          <dgm:chMax val="0"/>
          <dgm:bulletEnabled val="1"/>
        </dgm:presLayoutVars>
      </dgm:prSet>
      <dgm:spPr/>
    </dgm:pt>
    <dgm:pt modelId="{E77E07E2-60D8-48AB-AE3F-3BEDBEC6D1C7}" type="pres">
      <dgm:prSet presAssocID="{D1BEE930-BCFB-4F86-942C-1FB3A368F39E}" presName="nodeRect" presStyleLbl="alignNode1" presStyleIdx="0" presStyleCnt="4">
        <dgm:presLayoutVars>
          <dgm:bulletEnabled val="1"/>
        </dgm:presLayoutVars>
      </dgm:prSet>
      <dgm:spPr/>
    </dgm:pt>
    <dgm:pt modelId="{FF9979EB-309D-4F63-BB15-EE41FBB43C96}" type="pres">
      <dgm:prSet presAssocID="{5659F123-571C-4FF7-BAB7-8F7496C78E3C}" presName="sibTrans" presStyleCnt="0"/>
      <dgm:spPr/>
    </dgm:pt>
    <dgm:pt modelId="{DF7789AE-E3A6-49D4-B90A-63093C0ECB56}" type="pres">
      <dgm:prSet presAssocID="{4A120F36-6C6C-4D6D-85F9-CCF6A44AC9AF}" presName="compositeNode" presStyleCnt="0">
        <dgm:presLayoutVars>
          <dgm:bulletEnabled val="1"/>
        </dgm:presLayoutVars>
      </dgm:prSet>
      <dgm:spPr/>
    </dgm:pt>
    <dgm:pt modelId="{59ECA869-2EDB-4167-AC2B-014CDB690BBC}" type="pres">
      <dgm:prSet presAssocID="{4A120F36-6C6C-4D6D-85F9-CCF6A44AC9AF}" presName="bgRect" presStyleLbl="alignNode1" presStyleIdx="1" presStyleCnt="4"/>
      <dgm:spPr/>
    </dgm:pt>
    <dgm:pt modelId="{8242CC82-EE59-4021-B9B8-29476ED6E331}" type="pres">
      <dgm:prSet presAssocID="{09854A65-7815-47E5-8D2A-393550884410}" presName="sibTransNodeRect" presStyleLbl="alignNode1" presStyleIdx="1" presStyleCnt="4">
        <dgm:presLayoutVars>
          <dgm:chMax val="0"/>
          <dgm:bulletEnabled val="1"/>
        </dgm:presLayoutVars>
      </dgm:prSet>
      <dgm:spPr/>
    </dgm:pt>
    <dgm:pt modelId="{6B38D733-728C-4FC7-ACA2-96D4EDB2F10E}" type="pres">
      <dgm:prSet presAssocID="{4A120F36-6C6C-4D6D-85F9-CCF6A44AC9AF}" presName="nodeRect" presStyleLbl="alignNode1" presStyleIdx="1" presStyleCnt="4">
        <dgm:presLayoutVars>
          <dgm:bulletEnabled val="1"/>
        </dgm:presLayoutVars>
      </dgm:prSet>
      <dgm:spPr/>
    </dgm:pt>
    <dgm:pt modelId="{05ECE61B-2EAD-43BC-BAE0-3CF916BDC786}" type="pres">
      <dgm:prSet presAssocID="{09854A65-7815-47E5-8D2A-393550884410}" presName="sibTrans" presStyleCnt="0"/>
      <dgm:spPr/>
    </dgm:pt>
    <dgm:pt modelId="{A3FE76AD-2982-4439-967E-1FDB0AD5D6D2}" type="pres">
      <dgm:prSet presAssocID="{23562878-06FA-4F7A-9BCB-55B83E80A634}" presName="compositeNode" presStyleCnt="0">
        <dgm:presLayoutVars>
          <dgm:bulletEnabled val="1"/>
        </dgm:presLayoutVars>
      </dgm:prSet>
      <dgm:spPr/>
    </dgm:pt>
    <dgm:pt modelId="{60184552-A1AC-48A1-BB56-C209762D1D78}" type="pres">
      <dgm:prSet presAssocID="{23562878-06FA-4F7A-9BCB-55B83E80A634}" presName="bgRect" presStyleLbl="alignNode1" presStyleIdx="2" presStyleCnt="4"/>
      <dgm:spPr/>
    </dgm:pt>
    <dgm:pt modelId="{B566D3F0-F40C-4F04-8569-25F1F4F91D10}" type="pres">
      <dgm:prSet presAssocID="{B40D2FD0-BE94-4344-A95D-419D2033F266}" presName="sibTransNodeRect" presStyleLbl="alignNode1" presStyleIdx="2" presStyleCnt="4">
        <dgm:presLayoutVars>
          <dgm:chMax val="0"/>
          <dgm:bulletEnabled val="1"/>
        </dgm:presLayoutVars>
      </dgm:prSet>
      <dgm:spPr/>
    </dgm:pt>
    <dgm:pt modelId="{E54C0E80-6EC0-4209-BDAB-D180D68A9DFB}" type="pres">
      <dgm:prSet presAssocID="{23562878-06FA-4F7A-9BCB-55B83E80A634}" presName="nodeRect" presStyleLbl="alignNode1" presStyleIdx="2" presStyleCnt="4">
        <dgm:presLayoutVars>
          <dgm:bulletEnabled val="1"/>
        </dgm:presLayoutVars>
      </dgm:prSet>
      <dgm:spPr/>
    </dgm:pt>
    <dgm:pt modelId="{139FF161-7BE5-408F-ABA1-1F36B0E242C4}" type="pres">
      <dgm:prSet presAssocID="{B40D2FD0-BE94-4344-A95D-419D2033F266}" presName="sibTrans" presStyleCnt="0"/>
      <dgm:spPr/>
    </dgm:pt>
    <dgm:pt modelId="{678A2B04-1DDA-426A-8838-66F4B8440E33}" type="pres">
      <dgm:prSet presAssocID="{E43EBE35-8544-47B7-BC58-6FECA7C8B3C5}" presName="compositeNode" presStyleCnt="0">
        <dgm:presLayoutVars>
          <dgm:bulletEnabled val="1"/>
        </dgm:presLayoutVars>
      </dgm:prSet>
      <dgm:spPr/>
    </dgm:pt>
    <dgm:pt modelId="{3510A56F-FC33-42EE-8695-9C8CB7E527A5}" type="pres">
      <dgm:prSet presAssocID="{E43EBE35-8544-47B7-BC58-6FECA7C8B3C5}" presName="bgRect" presStyleLbl="alignNode1" presStyleIdx="3" presStyleCnt="4"/>
      <dgm:spPr/>
    </dgm:pt>
    <dgm:pt modelId="{38F1ABD1-B1E8-4270-93B6-5BE808772376}" type="pres">
      <dgm:prSet presAssocID="{CD93E5D6-A5E7-4733-8E1B-9CEC799AD3B9}" presName="sibTransNodeRect" presStyleLbl="alignNode1" presStyleIdx="3" presStyleCnt="4">
        <dgm:presLayoutVars>
          <dgm:chMax val="0"/>
          <dgm:bulletEnabled val="1"/>
        </dgm:presLayoutVars>
      </dgm:prSet>
      <dgm:spPr/>
    </dgm:pt>
    <dgm:pt modelId="{66464827-3CE1-42CC-8D7F-1EC6C66B383F}" type="pres">
      <dgm:prSet presAssocID="{E43EBE35-8544-47B7-BC58-6FECA7C8B3C5}" presName="nodeRect" presStyleLbl="alignNode1" presStyleIdx="3" presStyleCnt="4">
        <dgm:presLayoutVars>
          <dgm:bulletEnabled val="1"/>
        </dgm:presLayoutVars>
      </dgm:prSet>
      <dgm:spPr/>
    </dgm:pt>
  </dgm:ptLst>
  <dgm:cxnLst>
    <dgm:cxn modelId="{302B380C-AD98-4593-90CA-9FA37A75364C}" type="presOf" srcId="{D1BEE930-BCFB-4F86-942C-1FB3A368F39E}" destId="{4D710C29-2C69-49C8-8F02-2EE6AE016644}" srcOrd="0" destOrd="0" presId="urn:microsoft.com/office/officeart/2016/7/layout/LinearBlockProcessNumbered"/>
    <dgm:cxn modelId="{A309FE0C-E868-476F-8A40-8CD68389EF6B}" srcId="{89AC3737-3438-4228-AD24-EC9D40EA92B1}" destId="{D1BEE930-BCFB-4F86-942C-1FB3A368F39E}" srcOrd="0" destOrd="0" parTransId="{DF568B26-1A25-4604-9710-19D7C3AD107B}" sibTransId="{5659F123-571C-4FF7-BAB7-8F7496C78E3C}"/>
    <dgm:cxn modelId="{3A2EA517-1D52-49B4-922F-0E0E3AF51111}" type="presOf" srcId="{23562878-06FA-4F7A-9BCB-55B83E80A634}" destId="{60184552-A1AC-48A1-BB56-C209762D1D78}" srcOrd="0" destOrd="0" presId="urn:microsoft.com/office/officeart/2016/7/layout/LinearBlockProcessNumbered"/>
    <dgm:cxn modelId="{EB5C1018-1017-4C2E-A8D0-389956C062AB}" type="presOf" srcId="{4A120F36-6C6C-4D6D-85F9-CCF6A44AC9AF}" destId="{59ECA869-2EDB-4167-AC2B-014CDB690BBC}" srcOrd="0" destOrd="0" presId="urn:microsoft.com/office/officeart/2016/7/layout/LinearBlockProcessNumbered"/>
    <dgm:cxn modelId="{6509292B-86D2-491E-A708-17F88E065CB2}" srcId="{89AC3737-3438-4228-AD24-EC9D40EA92B1}" destId="{23562878-06FA-4F7A-9BCB-55B83E80A634}" srcOrd="2" destOrd="0" parTransId="{D8A33573-1F0D-4641-8354-7566BE165F07}" sibTransId="{B40D2FD0-BE94-4344-A95D-419D2033F266}"/>
    <dgm:cxn modelId="{C200A640-2329-4983-878A-E4697A19FA41}" type="presOf" srcId="{23562878-06FA-4F7A-9BCB-55B83E80A634}" destId="{E54C0E80-6EC0-4209-BDAB-D180D68A9DFB}" srcOrd="1" destOrd="0" presId="urn:microsoft.com/office/officeart/2016/7/layout/LinearBlockProcessNumbered"/>
    <dgm:cxn modelId="{12082444-61CF-43CC-A2A7-9B2DD1980A8A}" type="presOf" srcId="{4A120F36-6C6C-4D6D-85F9-CCF6A44AC9AF}" destId="{6B38D733-728C-4FC7-ACA2-96D4EDB2F10E}" srcOrd="1" destOrd="0" presId="urn:microsoft.com/office/officeart/2016/7/layout/LinearBlockProcessNumbered"/>
    <dgm:cxn modelId="{0F27B77F-C4C8-4BF5-9844-12D853AA9398}" type="presOf" srcId="{E43EBE35-8544-47B7-BC58-6FECA7C8B3C5}" destId="{66464827-3CE1-42CC-8D7F-1EC6C66B383F}" srcOrd="1" destOrd="0" presId="urn:microsoft.com/office/officeart/2016/7/layout/LinearBlockProcessNumbered"/>
    <dgm:cxn modelId="{4B93C78F-F9B6-4FCE-8A84-629ED570A7CE}" srcId="{89AC3737-3438-4228-AD24-EC9D40EA92B1}" destId="{E43EBE35-8544-47B7-BC58-6FECA7C8B3C5}" srcOrd="3" destOrd="0" parTransId="{3EC01024-1BC0-4241-914A-E4B0A775749E}" sibTransId="{CD93E5D6-A5E7-4733-8E1B-9CEC799AD3B9}"/>
    <dgm:cxn modelId="{57C3D0A4-1F93-4BD9-ADAF-328BDE36E67E}" type="presOf" srcId="{89AC3737-3438-4228-AD24-EC9D40EA92B1}" destId="{1FD0E91C-A4A2-468B-B029-230B2FE2640C}" srcOrd="0" destOrd="0" presId="urn:microsoft.com/office/officeart/2016/7/layout/LinearBlockProcessNumbered"/>
    <dgm:cxn modelId="{268CA1A5-849F-4784-AEBB-7C4EB4A70C78}" type="presOf" srcId="{CD93E5D6-A5E7-4733-8E1B-9CEC799AD3B9}" destId="{38F1ABD1-B1E8-4270-93B6-5BE808772376}" srcOrd="0" destOrd="0" presId="urn:microsoft.com/office/officeart/2016/7/layout/LinearBlockProcessNumbered"/>
    <dgm:cxn modelId="{AA409AAF-CD70-4EEB-B47D-9755CA0114D8}" type="presOf" srcId="{09854A65-7815-47E5-8D2A-393550884410}" destId="{8242CC82-EE59-4021-B9B8-29476ED6E331}" srcOrd="0" destOrd="0" presId="urn:microsoft.com/office/officeart/2016/7/layout/LinearBlockProcessNumbered"/>
    <dgm:cxn modelId="{E3B424C0-F2BC-4AD9-BF98-6DA1261CC86F}" type="presOf" srcId="{B40D2FD0-BE94-4344-A95D-419D2033F266}" destId="{B566D3F0-F40C-4F04-8569-25F1F4F91D10}" srcOrd="0" destOrd="0" presId="urn:microsoft.com/office/officeart/2016/7/layout/LinearBlockProcessNumbered"/>
    <dgm:cxn modelId="{76AA76D0-E498-479C-980F-29A3280E099E}" type="presOf" srcId="{E43EBE35-8544-47B7-BC58-6FECA7C8B3C5}" destId="{3510A56F-FC33-42EE-8695-9C8CB7E527A5}" srcOrd="0" destOrd="0" presId="urn:microsoft.com/office/officeart/2016/7/layout/LinearBlockProcessNumbered"/>
    <dgm:cxn modelId="{B5A50ADB-3A87-4EDA-8FE7-5C53169A34C2}" type="presOf" srcId="{5659F123-571C-4FF7-BAB7-8F7496C78E3C}" destId="{1292DFA2-7286-4781-BAA5-E02170CAA084}" srcOrd="0" destOrd="0" presId="urn:microsoft.com/office/officeart/2016/7/layout/LinearBlockProcessNumbered"/>
    <dgm:cxn modelId="{E5B0FDDD-041F-45E6-AD26-6E85B5B83932}" type="presOf" srcId="{D1BEE930-BCFB-4F86-942C-1FB3A368F39E}" destId="{E77E07E2-60D8-48AB-AE3F-3BEDBEC6D1C7}" srcOrd="1" destOrd="0" presId="urn:microsoft.com/office/officeart/2016/7/layout/LinearBlockProcessNumbered"/>
    <dgm:cxn modelId="{9FAC3CFE-BE79-4627-8805-97115C5F1D9D}" srcId="{89AC3737-3438-4228-AD24-EC9D40EA92B1}" destId="{4A120F36-6C6C-4D6D-85F9-CCF6A44AC9AF}" srcOrd="1" destOrd="0" parTransId="{C63A8490-3DE7-47AF-A83D-1EB04F3C0C8D}" sibTransId="{09854A65-7815-47E5-8D2A-393550884410}"/>
    <dgm:cxn modelId="{8130ED3D-2464-415F-AF0A-85442782560A}" type="presParOf" srcId="{1FD0E91C-A4A2-468B-B029-230B2FE2640C}" destId="{36354724-F8A4-4EAB-BF54-775D4BBAC8B2}" srcOrd="0" destOrd="0" presId="urn:microsoft.com/office/officeart/2016/7/layout/LinearBlockProcessNumbered"/>
    <dgm:cxn modelId="{019D816F-F21D-4870-9D2C-D447B5CFF139}" type="presParOf" srcId="{36354724-F8A4-4EAB-BF54-775D4BBAC8B2}" destId="{4D710C29-2C69-49C8-8F02-2EE6AE016644}" srcOrd="0" destOrd="0" presId="urn:microsoft.com/office/officeart/2016/7/layout/LinearBlockProcessNumbered"/>
    <dgm:cxn modelId="{22B70576-15D3-43EC-8B66-CAB722E98370}" type="presParOf" srcId="{36354724-F8A4-4EAB-BF54-775D4BBAC8B2}" destId="{1292DFA2-7286-4781-BAA5-E02170CAA084}" srcOrd="1" destOrd="0" presId="urn:microsoft.com/office/officeart/2016/7/layout/LinearBlockProcessNumbered"/>
    <dgm:cxn modelId="{2CF4B1F1-D4EE-4FEA-BF9B-628576D4D6FE}" type="presParOf" srcId="{36354724-F8A4-4EAB-BF54-775D4BBAC8B2}" destId="{E77E07E2-60D8-48AB-AE3F-3BEDBEC6D1C7}" srcOrd="2" destOrd="0" presId="urn:microsoft.com/office/officeart/2016/7/layout/LinearBlockProcessNumbered"/>
    <dgm:cxn modelId="{DE016669-A0C9-4E6A-A53E-7CC15499399E}" type="presParOf" srcId="{1FD0E91C-A4A2-468B-B029-230B2FE2640C}" destId="{FF9979EB-309D-4F63-BB15-EE41FBB43C96}" srcOrd="1" destOrd="0" presId="urn:microsoft.com/office/officeart/2016/7/layout/LinearBlockProcessNumbered"/>
    <dgm:cxn modelId="{D5858246-C3A9-4900-A1CB-46BA909D7861}" type="presParOf" srcId="{1FD0E91C-A4A2-468B-B029-230B2FE2640C}" destId="{DF7789AE-E3A6-49D4-B90A-63093C0ECB56}" srcOrd="2" destOrd="0" presId="urn:microsoft.com/office/officeart/2016/7/layout/LinearBlockProcessNumbered"/>
    <dgm:cxn modelId="{75827348-9F12-4A71-B04B-63389089118A}" type="presParOf" srcId="{DF7789AE-E3A6-49D4-B90A-63093C0ECB56}" destId="{59ECA869-2EDB-4167-AC2B-014CDB690BBC}" srcOrd="0" destOrd="0" presId="urn:microsoft.com/office/officeart/2016/7/layout/LinearBlockProcessNumbered"/>
    <dgm:cxn modelId="{345F28B2-4801-4680-A0AC-B4B48A8F7D76}" type="presParOf" srcId="{DF7789AE-E3A6-49D4-B90A-63093C0ECB56}" destId="{8242CC82-EE59-4021-B9B8-29476ED6E331}" srcOrd="1" destOrd="0" presId="urn:microsoft.com/office/officeart/2016/7/layout/LinearBlockProcessNumbered"/>
    <dgm:cxn modelId="{0BFD360A-7680-40FB-AAE0-B3BCA26DDF97}" type="presParOf" srcId="{DF7789AE-E3A6-49D4-B90A-63093C0ECB56}" destId="{6B38D733-728C-4FC7-ACA2-96D4EDB2F10E}" srcOrd="2" destOrd="0" presId="urn:microsoft.com/office/officeart/2016/7/layout/LinearBlockProcessNumbered"/>
    <dgm:cxn modelId="{DD4054CC-54AC-49A4-A5D5-CFA9B18131E1}" type="presParOf" srcId="{1FD0E91C-A4A2-468B-B029-230B2FE2640C}" destId="{05ECE61B-2EAD-43BC-BAE0-3CF916BDC786}" srcOrd="3" destOrd="0" presId="urn:microsoft.com/office/officeart/2016/7/layout/LinearBlockProcessNumbered"/>
    <dgm:cxn modelId="{645D8819-6192-493F-9A31-0FBA11D35599}" type="presParOf" srcId="{1FD0E91C-A4A2-468B-B029-230B2FE2640C}" destId="{A3FE76AD-2982-4439-967E-1FDB0AD5D6D2}" srcOrd="4" destOrd="0" presId="urn:microsoft.com/office/officeart/2016/7/layout/LinearBlockProcessNumbered"/>
    <dgm:cxn modelId="{389406EB-F343-4D7E-AEF2-78CE1496FF11}" type="presParOf" srcId="{A3FE76AD-2982-4439-967E-1FDB0AD5D6D2}" destId="{60184552-A1AC-48A1-BB56-C209762D1D78}" srcOrd="0" destOrd="0" presId="urn:microsoft.com/office/officeart/2016/7/layout/LinearBlockProcessNumbered"/>
    <dgm:cxn modelId="{BEA7492A-9D3E-497C-85CB-74751F19398B}" type="presParOf" srcId="{A3FE76AD-2982-4439-967E-1FDB0AD5D6D2}" destId="{B566D3F0-F40C-4F04-8569-25F1F4F91D10}" srcOrd="1" destOrd="0" presId="urn:microsoft.com/office/officeart/2016/7/layout/LinearBlockProcessNumbered"/>
    <dgm:cxn modelId="{271AA139-78D5-4787-A61F-5E6586387F13}" type="presParOf" srcId="{A3FE76AD-2982-4439-967E-1FDB0AD5D6D2}" destId="{E54C0E80-6EC0-4209-BDAB-D180D68A9DFB}" srcOrd="2" destOrd="0" presId="urn:microsoft.com/office/officeart/2016/7/layout/LinearBlockProcessNumbered"/>
    <dgm:cxn modelId="{10C2E536-556D-4EF0-A826-DB6C01593F63}" type="presParOf" srcId="{1FD0E91C-A4A2-468B-B029-230B2FE2640C}" destId="{139FF161-7BE5-408F-ABA1-1F36B0E242C4}" srcOrd="5" destOrd="0" presId="urn:microsoft.com/office/officeart/2016/7/layout/LinearBlockProcessNumbered"/>
    <dgm:cxn modelId="{E3F40706-0868-4EFE-82FE-7CAEFB5F3F8D}" type="presParOf" srcId="{1FD0E91C-A4A2-468B-B029-230B2FE2640C}" destId="{678A2B04-1DDA-426A-8838-66F4B8440E33}" srcOrd="6" destOrd="0" presId="urn:microsoft.com/office/officeart/2016/7/layout/LinearBlockProcessNumbered"/>
    <dgm:cxn modelId="{C90ED320-81C5-40BB-BAA1-132BE492E543}" type="presParOf" srcId="{678A2B04-1DDA-426A-8838-66F4B8440E33}" destId="{3510A56F-FC33-42EE-8695-9C8CB7E527A5}" srcOrd="0" destOrd="0" presId="urn:microsoft.com/office/officeart/2016/7/layout/LinearBlockProcessNumbered"/>
    <dgm:cxn modelId="{C2878F8E-A81B-4E43-AC56-525BA1F8B367}" type="presParOf" srcId="{678A2B04-1DDA-426A-8838-66F4B8440E33}" destId="{38F1ABD1-B1E8-4270-93B6-5BE808772376}" srcOrd="1" destOrd="0" presId="urn:microsoft.com/office/officeart/2016/7/layout/LinearBlockProcessNumbered"/>
    <dgm:cxn modelId="{31CBB282-C709-486C-9FC0-2A6475022C46}" type="presParOf" srcId="{678A2B04-1DDA-426A-8838-66F4B8440E33}" destId="{66464827-3CE1-42CC-8D7F-1EC6C66B383F}"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CD98A39-A385-474A-B50E-D41BAC3A4E87}"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1722669A-ACA4-4F93-A8AD-1F189CF7EFE3}">
      <dgm:prSet/>
      <dgm:spPr/>
      <dgm:t>
        <a:bodyPr/>
        <a:lstStyle/>
        <a:p>
          <a:r>
            <a:rPr lang="en-GB" dirty="0">
              <a:latin typeface="Georgia Pro Light" panose="02040302050405020303" pitchFamily="18" charset="0"/>
            </a:rPr>
            <a:t>Imported data model from Excel into Power BI</a:t>
          </a:r>
          <a:endParaRPr lang="en-US" dirty="0">
            <a:latin typeface="Georgia Pro Light" panose="02040302050405020303" pitchFamily="18" charset="0"/>
          </a:endParaRPr>
        </a:p>
      </dgm:t>
    </dgm:pt>
    <dgm:pt modelId="{08ECF2E3-4705-44D4-B1B4-A079149E0D0E}" type="parTrans" cxnId="{1E576BEE-BDC8-4BAC-BFF6-3CC317C46FBF}">
      <dgm:prSet/>
      <dgm:spPr/>
      <dgm:t>
        <a:bodyPr/>
        <a:lstStyle/>
        <a:p>
          <a:endParaRPr lang="en-US"/>
        </a:p>
      </dgm:t>
    </dgm:pt>
    <dgm:pt modelId="{930AEAFF-C7EF-4BDA-B271-404D8C1C69D8}" type="sibTrans" cxnId="{1E576BEE-BDC8-4BAC-BFF6-3CC317C46FBF}">
      <dgm:prSet/>
      <dgm:spPr/>
      <dgm:t>
        <a:bodyPr/>
        <a:lstStyle/>
        <a:p>
          <a:endParaRPr lang="en-US"/>
        </a:p>
      </dgm:t>
    </dgm:pt>
    <dgm:pt modelId="{C2CB4726-EFED-42D4-B849-9121254C5F57}">
      <dgm:prSet/>
      <dgm:spPr/>
      <dgm:t>
        <a:bodyPr/>
        <a:lstStyle/>
        <a:p>
          <a:r>
            <a:rPr lang="en-GB" dirty="0">
              <a:latin typeface="Georgia Pro Light" panose="02040302050405020303" pitchFamily="18" charset="0"/>
            </a:rPr>
            <a:t>Reviewed and renamed tables and columns for clarity</a:t>
          </a:r>
          <a:endParaRPr lang="en-US" dirty="0">
            <a:latin typeface="Georgia Pro Light" panose="02040302050405020303" pitchFamily="18" charset="0"/>
          </a:endParaRPr>
        </a:p>
      </dgm:t>
    </dgm:pt>
    <dgm:pt modelId="{ADF82D23-6C88-4C75-9DF9-2677FC38B3D4}" type="parTrans" cxnId="{E7451FC7-9785-4B27-9E7E-F0224EEE3418}">
      <dgm:prSet/>
      <dgm:spPr/>
      <dgm:t>
        <a:bodyPr/>
        <a:lstStyle/>
        <a:p>
          <a:endParaRPr lang="en-US"/>
        </a:p>
      </dgm:t>
    </dgm:pt>
    <dgm:pt modelId="{434675A5-A6F7-4CB6-A4B0-544B8B544BE7}" type="sibTrans" cxnId="{E7451FC7-9785-4B27-9E7E-F0224EEE3418}">
      <dgm:prSet/>
      <dgm:spPr/>
      <dgm:t>
        <a:bodyPr/>
        <a:lstStyle/>
        <a:p>
          <a:endParaRPr lang="en-US"/>
        </a:p>
      </dgm:t>
    </dgm:pt>
    <dgm:pt modelId="{17120F2A-F955-43F4-84E2-57281F55FE8F}">
      <dgm:prSet/>
      <dgm:spPr/>
      <dgm:t>
        <a:bodyPr/>
        <a:lstStyle/>
        <a:p>
          <a:r>
            <a:rPr lang="en-GB" dirty="0">
              <a:latin typeface="Georgia Pro Light" panose="02040302050405020303" pitchFamily="18" charset="0"/>
            </a:rPr>
            <a:t>Hid unnecessary fields and grouped measures in folders</a:t>
          </a:r>
          <a:endParaRPr lang="en-US" dirty="0">
            <a:latin typeface="Georgia Pro Light" panose="02040302050405020303" pitchFamily="18" charset="0"/>
          </a:endParaRPr>
        </a:p>
      </dgm:t>
    </dgm:pt>
    <dgm:pt modelId="{03C0D661-3456-4C78-A59F-7C2C4FCFCB6D}" type="parTrans" cxnId="{390113C2-EDB4-458E-A41C-327D51D53958}">
      <dgm:prSet/>
      <dgm:spPr/>
      <dgm:t>
        <a:bodyPr/>
        <a:lstStyle/>
        <a:p>
          <a:endParaRPr lang="en-US"/>
        </a:p>
      </dgm:t>
    </dgm:pt>
    <dgm:pt modelId="{73EF2F0D-6C46-4F1F-9382-E73068E842F5}" type="sibTrans" cxnId="{390113C2-EDB4-458E-A41C-327D51D53958}">
      <dgm:prSet/>
      <dgm:spPr/>
      <dgm:t>
        <a:bodyPr/>
        <a:lstStyle/>
        <a:p>
          <a:endParaRPr lang="en-US"/>
        </a:p>
      </dgm:t>
    </dgm:pt>
    <dgm:pt modelId="{3F5D5969-C9BD-4AF5-A00E-5620E9D20593}">
      <dgm:prSet/>
      <dgm:spPr/>
      <dgm:t>
        <a:bodyPr/>
        <a:lstStyle/>
        <a:p>
          <a:r>
            <a:rPr lang="en-GB" dirty="0">
              <a:latin typeface="Georgia Pro Light" panose="02040302050405020303" pitchFamily="18" charset="0"/>
            </a:rPr>
            <a:t>Created new measure table to organize DAX calculations</a:t>
          </a:r>
          <a:endParaRPr lang="en-US" dirty="0">
            <a:latin typeface="Georgia Pro Light" panose="02040302050405020303" pitchFamily="18" charset="0"/>
          </a:endParaRPr>
        </a:p>
      </dgm:t>
    </dgm:pt>
    <dgm:pt modelId="{893939A1-657F-4E36-BF82-E66EA88E0D6B}" type="parTrans" cxnId="{55C62AB8-5E64-4274-8654-11B51190B969}">
      <dgm:prSet/>
      <dgm:spPr/>
      <dgm:t>
        <a:bodyPr/>
        <a:lstStyle/>
        <a:p>
          <a:endParaRPr lang="en-US"/>
        </a:p>
      </dgm:t>
    </dgm:pt>
    <dgm:pt modelId="{228C24CE-8D29-4059-ADE5-17496178097C}" type="sibTrans" cxnId="{55C62AB8-5E64-4274-8654-11B51190B969}">
      <dgm:prSet/>
      <dgm:spPr/>
      <dgm:t>
        <a:bodyPr/>
        <a:lstStyle/>
        <a:p>
          <a:endParaRPr lang="en-US"/>
        </a:p>
      </dgm:t>
    </dgm:pt>
    <dgm:pt modelId="{0867E145-FD1A-429C-A147-12961FA5FE14}">
      <dgm:prSet/>
      <dgm:spPr/>
      <dgm:t>
        <a:bodyPr/>
        <a:lstStyle/>
        <a:p>
          <a:r>
            <a:rPr lang="en-GB" dirty="0">
              <a:latin typeface="Georgia Pro Light" panose="02040302050405020303" pitchFamily="18" charset="0"/>
            </a:rPr>
            <a:t>Built dashboards focused on specific business topics (e.g., revenue, customers, growth)</a:t>
          </a:r>
          <a:endParaRPr lang="en-US" dirty="0">
            <a:latin typeface="Georgia Pro Light" panose="02040302050405020303" pitchFamily="18" charset="0"/>
          </a:endParaRPr>
        </a:p>
      </dgm:t>
    </dgm:pt>
    <dgm:pt modelId="{55227357-E56B-40B8-9952-A9074AE3F87B}" type="parTrans" cxnId="{9DAE05A5-ABA4-4ED4-96BF-F40326ECA484}">
      <dgm:prSet/>
      <dgm:spPr/>
      <dgm:t>
        <a:bodyPr/>
        <a:lstStyle/>
        <a:p>
          <a:endParaRPr lang="en-US"/>
        </a:p>
      </dgm:t>
    </dgm:pt>
    <dgm:pt modelId="{DBB0AC8F-BD79-4A90-991C-CBEE04D0A11E}" type="sibTrans" cxnId="{9DAE05A5-ABA4-4ED4-96BF-F40326ECA484}">
      <dgm:prSet/>
      <dgm:spPr/>
      <dgm:t>
        <a:bodyPr/>
        <a:lstStyle/>
        <a:p>
          <a:endParaRPr lang="en-US"/>
        </a:p>
      </dgm:t>
    </dgm:pt>
    <dgm:pt modelId="{D2FCF532-A1F2-46BB-B752-42AE4821B458}">
      <dgm:prSet/>
      <dgm:spPr/>
      <dgm:t>
        <a:bodyPr/>
        <a:lstStyle/>
        <a:p>
          <a:r>
            <a:rPr lang="en-GB" dirty="0">
              <a:latin typeface="Georgia Pro Light" panose="02040302050405020303" pitchFamily="18" charset="0"/>
            </a:rPr>
            <a:t>Added meaningful visuals and interactive elements:</a:t>
          </a:r>
          <a:endParaRPr lang="en-US" dirty="0">
            <a:latin typeface="Georgia Pro Light" panose="02040302050405020303" pitchFamily="18" charset="0"/>
          </a:endParaRPr>
        </a:p>
      </dgm:t>
    </dgm:pt>
    <dgm:pt modelId="{F7FD6D7F-1B2C-46CA-B2FC-611EECEAEE4F}" type="parTrans" cxnId="{4A25E3D8-08B8-42F6-B320-BADD0DE0940E}">
      <dgm:prSet/>
      <dgm:spPr/>
      <dgm:t>
        <a:bodyPr/>
        <a:lstStyle/>
        <a:p>
          <a:endParaRPr lang="en-US"/>
        </a:p>
      </dgm:t>
    </dgm:pt>
    <dgm:pt modelId="{E698D468-A240-4149-94F0-4878E0AF645C}" type="sibTrans" cxnId="{4A25E3D8-08B8-42F6-B320-BADD0DE0940E}">
      <dgm:prSet/>
      <dgm:spPr/>
      <dgm:t>
        <a:bodyPr/>
        <a:lstStyle/>
        <a:p>
          <a:endParaRPr lang="en-US"/>
        </a:p>
      </dgm:t>
    </dgm:pt>
    <dgm:pt modelId="{BBDC907B-8029-4CC8-A09C-DA8EE87D0C2F}">
      <dgm:prSet/>
      <dgm:spPr/>
      <dgm:t>
        <a:bodyPr/>
        <a:lstStyle/>
        <a:p>
          <a:r>
            <a:rPr lang="en-GB" dirty="0">
              <a:latin typeface="Georgia Pro Light" panose="02040302050405020303" pitchFamily="18" charset="0"/>
            </a:rPr>
            <a:t>Slicers by year, region, and division</a:t>
          </a:r>
          <a:endParaRPr lang="en-US" dirty="0">
            <a:latin typeface="Georgia Pro Light" panose="02040302050405020303" pitchFamily="18" charset="0"/>
          </a:endParaRPr>
        </a:p>
      </dgm:t>
    </dgm:pt>
    <dgm:pt modelId="{D78B133F-EE6F-4583-A075-937B57A56596}" type="parTrans" cxnId="{8E01B2EC-0E8D-48FC-87CF-08EC54E6121E}">
      <dgm:prSet/>
      <dgm:spPr/>
      <dgm:t>
        <a:bodyPr/>
        <a:lstStyle/>
        <a:p>
          <a:endParaRPr lang="en-US"/>
        </a:p>
      </dgm:t>
    </dgm:pt>
    <dgm:pt modelId="{F8DB3341-70AE-422C-AF77-32FBF015D991}" type="sibTrans" cxnId="{8E01B2EC-0E8D-48FC-87CF-08EC54E6121E}">
      <dgm:prSet/>
      <dgm:spPr/>
      <dgm:t>
        <a:bodyPr/>
        <a:lstStyle/>
        <a:p>
          <a:endParaRPr lang="en-US"/>
        </a:p>
      </dgm:t>
    </dgm:pt>
    <dgm:pt modelId="{AE311E41-90DD-4407-9A83-55696AAC8D27}">
      <dgm:prSet/>
      <dgm:spPr/>
      <dgm:t>
        <a:bodyPr/>
        <a:lstStyle/>
        <a:p>
          <a:r>
            <a:rPr lang="en-GB" dirty="0" err="1">
              <a:latin typeface="Georgia Pro Light" panose="02040302050405020303" pitchFamily="18" charset="0"/>
            </a:rPr>
            <a:t>Drillthrough</a:t>
          </a:r>
          <a:r>
            <a:rPr lang="en-GB" dirty="0">
              <a:latin typeface="Georgia Pro Light" panose="02040302050405020303" pitchFamily="18" charset="0"/>
            </a:rPr>
            <a:t> and custom tooltips</a:t>
          </a:r>
          <a:endParaRPr lang="en-US" dirty="0">
            <a:latin typeface="Georgia Pro Light" panose="02040302050405020303" pitchFamily="18" charset="0"/>
          </a:endParaRPr>
        </a:p>
      </dgm:t>
    </dgm:pt>
    <dgm:pt modelId="{1AEC24BF-1E72-4DA3-BE2B-5B775AB612E7}" type="parTrans" cxnId="{006B8DB2-12D4-4539-B07E-D1E2F4ABF16C}">
      <dgm:prSet/>
      <dgm:spPr/>
      <dgm:t>
        <a:bodyPr/>
        <a:lstStyle/>
        <a:p>
          <a:endParaRPr lang="en-US"/>
        </a:p>
      </dgm:t>
    </dgm:pt>
    <dgm:pt modelId="{8F0D64CD-5847-493A-BC6B-5CEC2214B435}" type="sibTrans" cxnId="{006B8DB2-12D4-4539-B07E-D1E2F4ABF16C}">
      <dgm:prSet/>
      <dgm:spPr/>
      <dgm:t>
        <a:bodyPr/>
        <a:lstStyle/>
        <a:p>
          <a:endParaRPr lang="en-US"/>
        </a:p>
      </dgm:t>
    </dgm:pt>
    <dgm:pt modelId="{E702FF9E-07FB-4C01-A494-7D674199FFD2}">
      <dgm:prSet/>
      <dgm:spPr/>
      <dgm:t>
        <a:bodyPr/>
        <a:lstStyle/>
        <a:p>
          <a:r>
            <a:rPr lang="en-GB" dirty="0">
              <a:latin typeface="Georgia Pro Light" panose="02040302050405020303" pitchFamily="18" charset="0"/>
            </a:rPr>
            <a:t>Dynamic KPIs using DAX time intelligence functions (SAMEPERIODLASTYEAR, etc.)</a:t>
          </a:r>
          <a:endParaRPr lang="en-US" dirty="0">
            <a:latin typeface="Georgia Pro Light" panose="02040302050405020303" pitchFamily="18" charset="0"/>
          </a:endParaRPr>
        </a:p>
      </dgm:t>
    </dgm:pt>
    <dgm:pt modelId="{462B0F02-730A-405E-8B3E-3B3CC9C6E748}" type="parTrans" cxnId="{20FEFAC7-9C5E-48F0-97EA-C72FB005ED93}">
      <dgm:prSet/>
      <dgm:spPr/>
      <dgm:t>
        <a:bodyPr/>
        <a:lstStyle/>
        <a:p>
          <a:endParaRPr lang="en-US"/>
        </a:p>
      </dgm:t>
    </dgm:pt>
    <dgm:pt modelId="{ED6E2A69-5B46-4852-B691-78C9D86DE67B}" type="sibTrans" cxnId="{20FEFAC7-9C5E-48F0-97EA-C72FB005ED93}">
      <dgm:prSet/>
      <dgm:spPr/>
      <dgm:t>
        <a:bodyPr/>
        <a:lstStyle/>
        <a:p>
          <a:endParaRPr lang="en-US"/>
        </a:p>
      </dgm:t>
    </dgm:pt>
    <dgm:pt modelId="{8D31FD59-604E-4FB7-9CD1-1438DEDE23C0}" type="pres">
      <dgm:prSet presAssocID="{CCD98A39-A385-474A-B50E-D41BAC3A4E87}" presName="vert0" presStyleCnt="0">
        <dgm:presLayoutVars>
          <dgm:dir/>
          <dgm:animOne val="branch"/>
          <dgm:animLvl val="lvl"/>
        </dgm:presLayoutVars>
      </dgm:prSet>
      <dgm:spPr/>
    </dgm:pt>
    <dgm:pt modelId="{64BA1656-D674-4070-B59E-828FCD26DE82}" type="pres">
      <dgm:prSet presAssocID="{1722669A-ACA4-4F93-A8AD-1F189CF7EFE3}" presName="thickLine" presStyleLbl="alignNode1" presStyleIdx="0" presStyleCnt="9"/>
      <dgm:spPr/>
    </dgm:pt>
    <dgm:pt modelId="{AA148E64-6136-497F-A6D5-53650CBE591B}" type="pres">
      <dgm:prSet presAssocID="{1722669A-ACA4-4F93-A8AD-1F189CF7EFE3}" presName="horz1" presStyleCnt="0"/>
      <dgm:spPr/>
    </dgm:pt>
    <dgm:pt modelId="{5B937C49-DD3B-4254-8005-B5005AA4D802}" type="pres">
      <dgm:prSet presAssocID="{1722669A-ACA4-4F93-A8AD-1F189CF7EFE3}" presName="tx1" presStyleLbl="revTx" presStyleIdx="0" presStyleCnt="9"/>
      <dgm:spPr/>
    </dgm:pt>
    <dgm:pt modelId="{AC0FCC43-3055-4149-9681-EC88614C27DB}" type="pres">
      <dgm:prSet presAssocID="{1722669A-ACA4-4F93-A8AD-1F189CF7EFE3}" presName="vert1" presStyleCnt="0"/>
      <dgm:spPr/>
    </dgm:pt>
    <dgm:pt modelId="{969A53EC-4495-4EA2-9F57-DCB9AAC285B8}" type="pres">
      <dgm:prSet presAssocID="{C2CB4726-EFED-42D4-B849-9121254C5F57}" presName="thickLine" presStyleLbl="alignNode1" presStyleIdx="1" presStyleCnt="9"/>
      <dgm:spPr/>
    </dgm:pt>
    <dgm:pt modelId="{BD10E2DC-D0F3-4836-8185-51A28988336A}" type="pres">
      <dgm:prSet presAssocID="{C2CB4726-EFED-42D4-B849-9121254C5F57}" presName="horz1" presStyleCnt="0"/>
      <dgm:spPr/>
    </dgm:pt>
    <dgm:pt modelId="{132B7984-6428-4A3A-9DDD-682AD0EAA702}" type="pres">
      <dgm:prSet presAssocID="{C2CB4726-EFED-42D4-B849-9121254C5F57}" presName="tx1" presStyleLbl="revTx" presStyleIdx="1" presStyleCnt="9"/>
      <dgm:spPr/>
    </dgm:pt>
    <dgm:pt modelId="{C48754D8-9B5A-40F0-9B58-CB140EC213FB}" type="pres">
      <dgm:prSet presAssocID="{C2CB4726-EFED-42D4-B849-9121254C5F57}" presName="vert1" presStyleCnt="0"/>
      <dgm:spPr/>
    </dgm:pt>
    <dgm:pt modelId="{B0A0B52C-3028-46E8-8186-53488D006EBA}" type="pres">
      <dgm:prSet presAssocID="{17120F2A-F955-43F4-84E2-57281F55FE8F}" presName="thickLine" presStyleLbl="alignNode1" presStyleIdx="2" presStyleCnt="9"/>
      <dgm:spPr/>
    </dgm:pt>
    <dgm:pt modelId="{0660DC57-6ED7-4C21-BDE5-EDC99C1CBBEB}" type="pres">
      <dgm:prSet presAssocID="{17120F2A-F955-43F4-84E2-57281F55FE8F}" presName="horz1" presStyleCnt="0"/>
      <dgm:spPr/>
    </dgm:pt>
    <dgm:pt modelId="{0A7C6C66-0EDC-48BC-9DBB-6D1D1ED67F96}" type="pres">
      <dgm:prSet presAssocID="{17120F2A-F955-43F4-84E2-57281F55FE8F}" presName="tx1" presStyleLbl="revTx" presStyleIdx="2" presStyleCnt="9"/>
      <dgm:spPr/>
    </dgm:pt>
    <dgm:pt modelId="{A9B988C1-88D3-4C0D-BB0A-9440D664A93F}" type="pres">
      <dgm:prSet presAssocID="{17120F2A-F955-43F4-84E2-57281F55FE8F}" presName="vert1" presStyleCnt="0"/>
      <dgm:spPr/>
    </dgm:pt>
    <dgm:pt modelId="{5F14174D-1A12-4D5D-AABF-BFDF5814B05D}" type="pres">
      <dgm:prSet presAssocID="{3F5D5969-C9BD-4AF5-A00E-5620E9D20593}" presName="thickLine" presStyleLbl="alignNode1" presStyleIdx="3" presStyleCnt="9"/>
      <dgm:spPr/>
    </dgm:pt>
    <dgm:pt modelId="{D593DED6-CB41-49AA-B5D4-F120F2FE36B2}" type="pres">
      <dgm:prSet presAssocID="{3F5D5969-C9BD-4AF5-A00E-5620E9D20593}" presName="horz1" presStyleCnt="0"/>
      <dgm:spPr/>
    </dgm:pt>
    <dgm:pt modelId="{2FA719FB-00C6-4E7D-B0FD-A71C92B8BBD3}" type="pres">
      <dgm:prSet presAssocID="{3F5D5969-C9BD-4AF5-A00E-5620E9D20593}" presName="tx1" presStyleLbl="revTx" presStyleIdx="3" presStyleCnt="9"/>
      <dgm:spPr/>
    </dgm:pt>
    <dgm:pt modelId="{1D6C614D-CAF1-4726-B70D-517FB7535EA2}" type="pres">
      <dgm:prSet presAssocID="{3F5D5969-C9BD-4AF5-A00E-5620E9D20593}" presName="vert1" presStyleCnt="0"/>
      <dgm:spPr/>
    </dgm:pt>
    <dgm:pt modelId="{C71BB823-126F-4C36-8E70-3BE0943C143B}" type="pres">
      <dgm:prSet presAssocID="{0867E145-FD1A-429C-A147-12961FA5FE14}" presName="thickLine" presStyleLbl="alignNode1" presStyleIdx="4" presStyleCnt="9"/>
      <dgm:spPr/>
    </dgm:pt>
    <dgm:pt modelId="{0AB290DD-562D-446E-9A14-C1F2EC2E1DB0}" type="pres">
      <dgm:prSet presAssocID="{0867E145-FD1A-429C-A147-12961FA5FE14}" presName="horz1" presStyleCnt="0"/>
      <dgm:spPr/>
    </dgm:pt>
    <dgm:pt modelId="{AC6771E8-0497-44B1-96D3-7932B9784361}" type="pres">
      <dgm:prSet presAssocID="{0867E145-FD1A-429C-A147-12961FA5FE14}" presName="tx1" presStyleLbl="revTx" presStyleIdx="4" presStyleCnt="9"/>
      <dgm:spPr/>
    </dgm:pt>
    <dgm:pt modelId="{4ACC1102-FC12-4470-9643-82360D3B8460}" type="pres">
      <dgm:prSet presAssocID="{0867E145-FD1A-429C-A147-12961FA5FE14}" presName="vert1" presStyleCnt="0"/>
      <dgm:spPr/>
    </dgm:pt>
    <dgm:pt modelId="{ED587BA8-55EE-4795-A597-082F3CE1C41C}" type="pres">
      <dgm:prSet presAssocID="{D2FCF532-A1F2-46BB-B752-42AE4821B458}" presName="thickLine" presStyleLbl="alignNode1" presStyleIdx="5" presStyleCnt="9"/>
      <dgm:spPr/>
    </dgm:pt>
    <dgm:pt modelId="{6B0EE849-FFE7-4957-96C7-29DDDF221369}" type="pres">
      <dgm:prSet presAssocID="{D2FCF532-A1F2-46BB-B752-42AE4821B458}" presName="horz1" presStyleCnt="0"/>
      <dgm:spPr/>
    </dgm:pt>
    <dgm:pt modelId="{2DD574E0-9F70-41E3-8F36-E992CFB83562}" type="pres">
      <dgm:prSet presAssocID="{D2FCF532-A1F2-46BB-B752-42AE4821B458}" presName="tx1" presStyleLbl="revTx" presStyleIdx="5" presStyleCnt="9"/>
      <dgm:spPr/>
    </dgm:pt>
    <dgm:pt modelId="{39B5B89B-8F46-4550-A044-1F6F9219A05A}" type="pres">
      <dgm:prSet presAssocID="{D2FCF532-A1F2-46BB-B752-42AE4821B458}" presName="vert1" presStyleCnt="0"/>
      <dgm:spPr/>
    </dgm:pt>
    <dgm:pt modelId="{66A454B2-5847-45EA-9E0A-E42CA24DCDDD}" type="pres">
      <dgm:prSet presAssocID="{BBDC907B-8029-4CC8-A09C-DA8EE87D0C2F}" presName="thickLine" presStyleLbl="alignNode1" presStyleIdx="6" presStyleCnt="9"/>
      <dgm:spPr/>
    </dgm:pt>
    <dgm:pt modelId="{91979661-1107-43D8-BFB8-CA97BD424E44}" type="pres">
      <dgm:prSet presAssocID="{BBDC907B-8029-4CC8-A09C-DA8EE87D0C2F}" presName="horz1" presStyleCnt="0"/>
      <dgm:spPr/>
    </dgm:pt>
    <dgm:pt modelId="{3074F548-761A-4C54-86BF-70BE01B0D475}" type="pres">
      <dgm:prSet presAssocID="{BBDC907B-8029-4CC8-A09C-DA8EE87D0C2F}" presName="tx1" presStyleLbl="revTx" presStyleIdx="6" presStyleCnt="9"/>
      <dgm:spPr/>
    </dgm:pt>
    <dgm:pt modelId="{8FC1FD32-7F75-4FAA-93CF-4EBDB02B2A9E}" type="pres">
      <dgm:prSet presAssocID="{BBDC907B-8029-4CC8-A09C-DA8EE87D0C2F}" presName="vert1" presStyleCnt="0"/>
      <dgm:spPr/>
    </dgm:pt>
    <dgm:pt modelId="{43B10CC3-1D55-44E0-B931-7A04EAF99D45}" type="pres">
      <dgm:prSet presAssocID="{AE311E41-90DD-4407-9A83-55696AAC8D27}" presName="thickLine" presStyleLbl="alignNode1" presStyleIdx="7" presStyleCnt="9"/>
      <dgm:spPr/>
    </dgm:pt>
    <dgm:pt modelId="{ABCDF801-A220-4107-BD2E-4B6627EBED38}" type="pres">
      <dgm:prSet presAssocID="{AE311E41-90DD-4407-9A83-55696AAC8D27}" presName="horz1" presStyleCnt="0"/>
      <dgm:spPr/>
    </dgm:pt>
    <dgm:pt modelId="{88A97FF0-FC50-40FD-88EE-C811279FBB31}" type="pres">
      <dgm:prSet presAssocID="{AE311E41-90DD-4407-9A83-55696AAC8D27}" presName="tx1" presStyleLbl="revTx" presStyleIdx="7" presStyleCnt="9"/>
      <dgm:spPr/>
    </dgm:pt>
    <dgm:pt modelId="{1C2C3C8D-29D5-4608-A8CF-E9DC1AE1C6F4}" type="pres">
      <dgm:prSet presAssocID="{AE311E41-90DD-4407-9A83-55696AAC8D27}" presName="vert1" presStyleCnt="0"/>
      <dgm:spPr/>
    </dgm:pt>
    <dgm:pt modelId="{20075939-D119-4261-869D-CA34BB43A8D8}" type="pres">
      <dgm:prSet presAssocID="{E702FF9E-07FB-4C01-A494-7D674199FFD2}" presName="thickLine" presStyleLbl="alignNode1" presStyleIdx="8" presStyleCnt="9"/>
      <dgm:spPr/>
    </dgm:pt>
    <dgm:pt modelId="{BCC98E2A-01FA-45B8-858B-9661974CC71B}" type="pres">
      <dgm:prSet presAssocID="{E702FF9E-07FB-4C01-A494-7D674199FFD2}" presName="horz1" presStyleCnt="0"/>
      <dgm:spPr/>
    </dgm:pt>
    <dgm:pt modelId="{2A544124-59C3-4258-886E-616A2EAC3488}" type="pres">
      <dgm:prSet presAssocID="{E702FF9E-07FB-4C01-A494-7D674199FFD2}" presName="tx1" presStyleLbl="revTx" presStyleIdx="8" presStyleCnt="9"/>
      <dgm:spPr/>
    </dgm:pt>
    <dgm:pt modelId="{08764FBB-17F1-40B7-9FDC-463CAAC966F5}" type="pres">
      <dgm:prSet presAssocID="{E702FF9E-07FB-4C01-A494-7D674199FFD2}" presName="vert1" presStyleCnt="0"/>
      <dgm:spPr/>
    </dgm:pt>
  </dgm:ptLst>
  <dgm:cxnLst>
    <dgm:cxn modelId="{58434601-34F6-436C-AC9E-394BA8B3ADCE}" type="presOf" srcId="{CCD98A39-A385-474A-B50E-D41BAC3A4E87}" destId="{8D31FD59-604E-4FB7-9CD1-1438DEDE23C0}" srcOrd="0" destOrd="0" presId="urn:microsoft.com/office/officeart/2008/layout/LinedList"/>
    <dgm:cxn modelId="{4783E809-841B-48CD-8F59-9D4B8CAA64B6}" type="presOf" srcId="{C2CB4726-EFED-42D4-B849-9121254C5F57}" destId="{132B7984-6428-4A3A-9DDD-682AD0EAA702}" srcOrd="0" destOrd="0" presId="urn:microsoft.com/office/officeart/2008/layout/LinedList"/>
    <dgm:cxn modelId="{7E2A0317-BEA0-401C-B0A1-ED5C54182609}" type="presOf" srcId="{E702FF9E-07FB-4C01-A494-7D674199FFD2}" destId="{2A544124-59C3-4258-886E-616A2EAC3488}" srcOrd="0" destOrd="0" presId="urn:microsoft.com/office/officeart/2008/layout/LinedList"/>
    <dgm:cxn modelId="{B2E2EE21-91EB-4EA9-A5FB-5374E8F8F100}" type="presOf" srcId="{3F5D5969-C9BD-4AF5-A00E-5620E9D20593}" destId="{2FA719FB-00C6-4E7D-B0FD-A71C92B8BBD3}" srcOrd="0" destOrd="0" presId="urn:microsoft.com/office/officeart/2008/layout/LinedList"/>
    <dgm:cxn modelId="{6EEAE52D-B1B2-4D36-B0FF-13967AC929FC}" type="presOf" srcId="{AE311E41-90DD-4407-9A83-55696AAC8D27}" destId="{88A97FF0-FC50-40FD-88EE-C811279FBB31}" srcOrd="0" destOrd="0" presId="urn:microsoft.com/office/officeart/2008/layout/LinedList"/>
    <dgm:cxn modelId="{6E3E5D40-49E0-4BA4-8735-184179E69B25}" type="presOf" srcId="{0867E145-FD1A-429C-A147-12961FA5FE14}" destId="{AC6771E8-0497-44B1-96D3-7932B9784361}" srcOrd="0" destOrd="0" presId="urn:microsoft.com/office/officeart/2008/layout/LinedList"/>
    <dgm:cxn modelId="{5891DBA3-66F0-40C9-83F3-70845396A376}" type="presOf" srcId="{17120F2A-F955-43F4-84E2-57281F55FE8F}" destId="{0A7C6C66-0EDC-48BC-9DBB-6D1D1ED67F96}" srcOrd="0" destOrd="0" presId="urn:microsoft.com/office/officeart/2008/layout/LinedList"/>
    <dgm:cxn modelId="{9DAE05A5-ABA4-4ED4-96BF-F40326ECA484}" srcId="{CCD98A39-A385-474A-B50E-D41BAC3A4E87}" destId="{0867E145-FD1A-429C-A147-12961FA5FE14}" srcOrd="4" destOrd="0" parTransId="{55227357-E56B-40B8-9952-A9074AE3F87B}" sibTransId="{DBB0AC8F-BD79-4A90-991C-CBEE04D0A11E}"/>
    <dgm:cxn modelId="{B483D8AA-65FC-4164-A00A-295160451909}" type="presOf" srcId="{1722669A-ACA4-4F93-A8AD-1F189CF7EFE3}" destId="{5B937C49-DD3B-4254-8005-B5005AA4D802}" srcOrd="0" destOrd="0" presId="urn:microsoft.com/office/officeart/2008/layout/LinedList"/>
    <dgm:cxn modelId="{006B8DB2-12D4-4539-B07E-D1E2F4ABF16C}" srcId="{CCD98A39-A385-474A-B50E-D41BAC3A4E87}" destId="{AE311E41-90DD-4407-9A83-55696AAC8D27}" srcOrd="7" destOrd="0" parTransId="{1AEC24BF-1E72-4DA3-BE2B-5B775AB612E7}" sibTransId="{8F0D64CD-5847-493A-BC6B-5CEC2214B435}"/>
    <dgm:cxn modelId="{AF61CFB3-D645-4866-BB07-E2FD2917443D}" type="presOf" srcId="{BBDC907B-8029-4CC8-A09C-DA8EE87D0C2F}" destId="{3074F548-761A-4C54-86BF-70BE01B0D475}" srcOrd="0" destOrd="0" presId="urn:microsoft.com/office/officeart/2008/layout/LinedList"/>
    <dgm:cxn modelId="{55C62AB8-5E64-4274-8654-11B51190B969}" srcId="{CCD98A39-A385-474A-B50E-D41BAC3A4E87}" destId="{3F5D5969-C9BD-4AF5-A00E-5620E9D20593}" srcOrd="3" destOrd="0" parTransId="{893939A1-657F-4E36-BF82-E66EA88E0D6B}" sibTransId="{228C24CE-8D29-4059-ADE5-17496178097C}"/>
    <dgm:cxn modelId="{4A4F4CBD-F72F-4CF9-B66F-64EE19047EC4}" type="presOf" srcId="{D2FCF532-A1F2-46BB-B752-42AE4821B458}" destId="{2DD574E0-9F70-41E3-8F36-E992CFB83562}" srcOrd="0" destOrd="0" presId="urn:microsoft.com/office/officeart/2008/layout/LinedList"/>
    <dgm:cxn modelId="{390113C2-EDB4-458E-A41C-327D51D53958}" srcId="{CCD98A39-A385-474A-B50E-D41BAC3A4E87}" destId="{17120F2A-F955-43F4-84E2-57281F55FE8F}" srcOrd="2" destOrd="0" parTransId="{03C0D661-3456-4C78-A59F-7C2C4FCFCB6D}" sibTransId="{73EF2F0D-6C46-4F1F-9382-E73068E842F5}"/>
    <dgm:cxn modelId="{E7451FC7-9785-4B27-9E7E-F0224EEE3418}" srcId="{CCD98A39-A385-474A-B50E-D41BAC3A4E87}" destId="{C2CB4726-EFED-42D4-B849-9121254C5F57}" srcOrd="1" destOrd="0" parTransId="{ADF82D23-6C88-4C75-9DF9-2677FC38B3D4}" sibTransId="{434675A5-A6F7-4CB6-A4B0-544B8B544BE7}"/>
    <dgm:cxn modelId="{20FEFAC7-9C5E-48F0-97EA-C72FB005ED93}" srcId="{CCD98A39-A385-474A-B50E-D41BAC3A4E87}" destId="{E702FF9E-07FB-4C01-A494-7D674199FFD2}" srcOrd="8" destOrd="0" parTransId="{462B0F02-730A-405E-8B3E-3B3CC9C6E748}" sibTransId="{ED6E2A69-5B46-4852-B691-78C9D86DE67B}"/>
    <dgm:cxn modelId="{4A25E3D8-08B8-42F6-B320-BADD0DE0940E}" srcId="{CCD98A39-A385-474A-B50E-D41BAC3A4E87}" destId="{D2FCF532-A1F2-46BB-B752-42AE4821B458}" srcOrd="5" destOrd="0" parTransId="{F7FD6D7F-1B2C-46CA-B2FC-611EECEAEE4F}" sibTransId="{E698D468-A240-4149-94F0-4878E0AF645C}"/>
    <dgm:cxn modelId="{8E01B2EC-0E8D-48FC-87CF-08EC54E6121E}" srcId="{CCD98A39-A385-474A-B50E-D41BAC3A4E87}" destId="{BBDC907B-8029-4CC8-A09C-DA8EE87D0C2F}" srcOrd="6" destOrd="0" parTransId="{D78B133F-EE6F-4583-A075-937B57A56596}" sibTransId="{F8DB3341-70AE-422C-AF77-32FBF015D991}"/>
    <dgm:cxn modelId="{1E576BEE-BDC8-4BAC-BFF6-3CC317C46FBF}" srcId="{CCD98A39-A385-474A-B50E-D41BAC3A4E87}" destId="{1722669A-ACA4-4F93-A8AD-1F189CF7EFE3}" srcOrd="0" destOrd="0" parTransId="{08ECF2E3-4705-44D4-B1B4-A079149E0D0E}" sibTransId="{930AEAFF-C7EF-4BDA-B271-404D8C1C69D8}"/>
    <dgm:cxn modelId="{21A4DC55-A57D-4DA7-A264-AD5AE8E5D2CB}" type="presParOf" srcId="{8D31FD59-604E-4FB7-9CD1-1438DEDE23C0}" destId="{64BA1656-D674-4070-B59E-828FCD26DE82}" srcOrd="0" destOrd="0" presId="urn:microsoft.com/office/officeart/2008/layout/LinedList"/>
    <dgm:cxn modelId="{DE11D4C2-0136-44E7-BD5D-C80EDC0B2977}" type="presParOf" srcId="{8D31FD59-604E-4FB7-9CD1-1438DEDE23C0}" destId="{AA148E64-6136-497F-A6D5-53650CBE591B}" srcOrd="1" destOrd="0" presId="urn:microsoft.com/office/officeart/2008/layout/LinedList"/>
    <dgm:cxn modelId="{8F2DE083-CAD2-4CFE-B5C6-97018AC952BE}" type="presParOf" srcId="{AA148E64-6136-497F-A6D5-53650CBE591B}" destId="{5B937C49-DD3B-4254-8005-B5005AA4D802}" srcOrd="0" destOrd="0" presId="urn:microsoft.com/office/officeart/2008/layout/LinedList"/>
    <dgm:cxn modelId="{97A83CA9-4C01-4FBE-BD42-FE52BAD1539B}" type="presParOf" srcId="{AA148E64-6136-497F-A6D5-53650CBE591B}" destId="{AC0FCC43-3055-4149-9681-EC88614C27DB}" srcOrd="1" destOrd="0" presId="urn:microsoft.com/office/officeart/2008/layout/LinedList"/>
    <dgm:cxn modelId="{6CC84FD3-600C-4822-9E14-1E9D8A7D40E4}" type="presParOf" srcId="{8D31FD59-604E-4FB7-9CD1-1438DEDE23C0}" destId="{969A53EC-4495-4EA2-9F57-DCB9AAC285B8}" srcOrd="2" destOrd="0" presId="urn:microsoft.com/office/officeart/2008/layout/LinedList"/>
    <dgm:cxn modelId="{305F02B1-CE78-42F7-9422-9D67777B9583}" type="presParOf" srcId="{8D31FD59-604E-4FB7-9CD1-1438DEDE23C0}" destId="{BD10E2DC-D0F3-4836-8185-51A28988336A}" srcOrd="3" destOrd="0" presId="urn:microsoft.com/office/officeart/2008/layout/LinedList"/>
    <dgm:cxn modelId="{D7F54BC4-D50E-4D70-A9E3-A976B31FA3E1}" type="presParOf" srcId="{BD10E2DC-D0F3-4836-8185-51A28988336A}" destId="{132B7984-6428-4A3A-9DDD-682AD0EAA702}" srcOrd="0" destOrd="0" presId="urn:microsoft.com/office/officeart/2008/layout/LinedList"/>
    <dgm:cxn modelId="{4132331E-9473-481E-8AD1-C118CEA661D1}" type="presParOf" srcId="{BD10E2DC-D0F3-4836-8185-51A28988336A}" destId="{C48754D8-9B5A-40F0-9B58-CB140EC213FB}" srcOrd="1" destOrd="0" presId="urn:microsoft.com/office/officeart/2008/layout/LinedList"/>
    <dgm:cxn modelId="{DE526702-A851-428B-99A4-0F3C086ECC04}" type="presParOf" srcId="{8D31FD59-604E-4FB7-9CD1-1438DEDE23C0}" destId="{B0A0B52C-3028-46E8-8186-53488D006EBA}" srcOrd="4" destOrd="0" presId="urn:microsoft.com/office/officeart/2008/layout/LinedList"/>
    <dgm:cxn modelId="{93B8DC19-B169-4F8A-BBCE-21E2611A48DA}" type="presParOf" srcId="{8D31FD59-604E-4FB7-9CD1-1438DEDE23C0}" destId="{0660DC57-6ED7-4C21-BDE5-EDC99C1CBBEB}" srcOrd="5" destOrd="0" presId="urn:microsoft.com/office/officeart/2008/layout/LinedList"/>
    <dgm:cxn modelId="{8EE59877-B8D9-4933-BA86-37FC424188DB}" type="presParOf" srcId="{0660DC57-6ED7-4C21-BDE5-EDC99C1CBBEB}" destId="{0A7C6C66-0EDC-48BC-9DBB-6D1D1ED67F96}" srcOrd="0" destOrd="0" presId="urn:microsoft.com/office/officeart/2008/layout/LinedList"/>
    <dgm:cxn modelId="{1608680D-EC74-4DDC-B63E-2AAF47B5F377}" type="presParOf" srcId="{0660DC57-6ED7-4C21-BDE5-EDC99C1CBBEB}" destId="{A9B988C1-88D3-4C0D-BB0A-9440D664A93F}" srcOrd="1" destOrd="0" presId="urn:microsoft.com/office/officeart/2008/layout/LinedList"/>
    <dgm:cxn modelId="{1759C20F-DF46-4953-A7F1-004786FC766B}" type="presParOf" srcId="{8D31FD59-604E-4FB7-9CD1-1438DEDE23C0}" destId="{5F14174D-1A12-4D5D-AABF-BFDF5814B05D}" srcOrd="6" destOrd="0" presId="urn:microsoft.com/office/officeart/2008/layout/LinedList"/>
    <dgm:cxn modelId="{3D05BD9F-B96C-4FA4-A9CB-DC8B76EA8C30}" type="presParOf" srcId="{8D31FD59-604E-4FB7-9CD1-1438DEDE23C0}" destId="{D593DED6-CB41-49AA-B5D4-F120F2FE36B2}" srcOrd="7" destOrd="0" presId="urn:microsoft.com/office/officeart/2008/layout/LinedList"/>
    <dgm:cxn modelId="{F0F6DEE8-8C22-43D5-BD86-BEFDC267E52B}" type="presParOf" srcId="{D593DED6-CB41-49AA-B5D4-F120F2FE36B2}" destId="{2FA719FB-00C6-4E7D-B0FD-A71C92B8BBD3}" srcOrd="0" destOrd="0" presId="urn:microsoft.com/office/officeart/2008/layout/LinedList"/>
    <dgm:cxn modelId="{77DCC621-7CCF-4F51-B1F9-F553C1DCA5DA}" type="presParOf" srcId="{D593DED6-CB41-49AA-B5D4-F120F2FE36B2}" destId="{1D6C614D-CAF1-4726-B70D-517FB7535EA2}" srcOrd="1" destOrd="0" presId="urn:microsoft.com/office/officeart/2008/layout/LinedList"/>
    <dgm:cxn modelId="{D8B0BA60-F1C6-46FF-9BA6-4F0D8AA81493}" type="presParOf" srcId="{8D31FD59-604E-4FB7-9CD1-1438DEDE23C0}" destId="{C71BB823-126F-4C36-8E70-3BE0943C143B}" srcOrd="8" destOrd="0" presId="urn:microsoft.com/office/officeart/2008/layout/LinedList"/>
    <dgm:cxn modelId="{D1563D1D-A531-4FAC-BE1A-0A77C002B977}" type="presParOf" srcId="{8D31FD59-604E-4FB7-9CD1-1438DEDE23C0}" destId="{0AB290DD-562D-446E-9A14-C1F2EC2E1DB0}" srcOrd="9" destOrd="0" presId="urn:microsoft.com/office/officeart/2008/layout/LinedList"/>
    <dgm:cxn modelId="{6CC0894F-86FA-4403-9102-576E6C04C48C}" type="presParOf" srcId="{0AB290DD-562D-446E-9A14-C1F2EC2E1DB0}" destId="{AC6771E8-0497-44B1-96D3-7932B9784361}" srcOrd="0" destOrd="0" presId="urn:microsoft.com/office/officeart/2008/layout/LinedList"/>
    <dgm:cxn modelId="{55C4D31E-9482-448C-899C-21D665C9E0AC}" type="presParOf" srcId="{0AB290DD-562D-446E-9A14-C1F2EC2E1DB0}" destId="{4ACC1102-FC12-4470-9643-82360D3B8460}" srcOrd="1" destOrd="0" presId="urn:microsoft.com/office/officeart/2008/layout/LinedList"/>
    <dgm:cxn modelId="{F1369031-80AD-4795-90D9-CFFFC1E8DF12}" type="presParOf" srcId="{8D31FD59-604E-4FB7-9CD1-1438DEDE23C0}" destId="{ED587BA8-55EE-4795-A597-082F3CE1C41C}" srcOrd="10" destOrd="0" presId="urn:microsoft.com/office/officeart/2008/layout/LinedList"/>
    <dgm:cxn modelId="{C6022026-F187-497C-9ACE-1593CAD3A4C1}" type="presParOf" srcId="{8D31FD59-604E-4FB7-9CD1-1438DEDE23C0}" destId="{6B0EE849-FFE7-4957-96C7-29DDDF221369}" srcOrd="11" destOrd="0" presId="urn:microsoft.com/office/officeart/2008/layout/LinedList"/>
    <dgm:cxn modelId="{773D38E3-CC08-4967-9345-19F0E06E7555}" type="presParOf" srcId="{6B0EE849-FFE7-4957-96C7-29DDDF221369}" destId="{2DD574E0-9F70-41E3-8F36-E992CFB83562}" srcOrd="0" destOrd="0" presId="urn:microsoft.com/office/officeart/2008/layout/LinedList"/>
    <dgm:cxn modelId="{945BE1F8-8AFD-418A-9B44-646475C506C3}" type="presParOf" srcId="{6B0EE849-FFE7-4957-96C7-29DDDF221369}" destId="{39B5B89B-8F46-4550-A044-1F6F9219A05A}" srcOrd="1" destOrd="0" presId="urn:microsoft.com/office/officeart/2008/layout/LinedList"/>
    <dgm:cxn modelId="{E45D234C-D72D-4948-B502-D3542ABC87E6}" type="presParOf" srcId="{8D31FD59-604E-4FB7-9CD1-1438DEDE23C0}" destId="{66A454B2-5847-45EA-9E0A-E42CA24DCDDD}" srcOrd="12" destOrd="0" presId="urn:microsoft.com/office/officeart/2008/layout/LinedList"/>
    <dgm:cxn modelId="{CE8DF1BA-3FA2-4F5C-BADD-A3D29462A37F}" type="presParOf" srcId="{8D31FD59-604E-4FB7-9CD1-1438DEDE23C0}" destId="{91979661-1107-43D8-BFB8-CA97BD424E44}" srcOrd="13" destOrd="0" presId="urn:microsoft.com/office/officeart/2008/layout/LinedList"/>
    <dgm:cxn modelId="{4C010432-82D7-49A4-AAFC-31425EB01D8C}" type="presParOf" srcId="{91979661-1107-43D8-BFB8-CA97BD424E44}" destId="{3074F548-761A-4C54-86BF-70BE01B0D475}" srcOrd="0" destOrd="0" presId="urn:microsoft.com/office/officeart/2008/layout/LinedList"/>
    <dgm:cxn modelId="{9003ECA9-1FD4-4773-97D8-0ABA4E081E9C}" type="presParOf" srcId="{91979661-1107-43D8-BFB8-CA97BD424E44}" destId="{8FC1FD32-7F75-4FAA-93CF-4EBDB02B2A9E}" srcOrd="1" destOrd="0" presId="urn:microsoft.com/office/officeart/2008/layout/LinedList"/>
    <dgm:cxn modelId="{E76A50DA-99F8-4887-A753-D7FBE68745E1}" type="presParOf" srcId="{8D31FD59-604E-4FB7-9CD1-1438DEDE23C0}" destId="{43B10CC3-1D55-44E0-B931-7A04EAF99D45}" srcOrd="14" destOrd="0" presId="urn:microsoft.com/office/officeart/2008/layout/LinedList"/>
    <dgm:cxn modelId="{321FBCDE-8959-4AEB-9511-876DDDDF5587}" type="presParOf" srcId="{8D31FD59-604E-4FB7-9CD1-1438DEDE23C0}" destId="{ABCDF801-A220-4107-BD2E-4B6627EBED38}" srcOrd="15" destOrd="0" presId="urn:microsoft.com/office/officeart/2008/layout/LinedList"/>
    <dgm:cxn modelId="{6890477F-EE2E-4C25-B708-900E6C6AC9FE}" type="presParOf" srcId="{ABCDF801-A220-4107-BD2E-4B6627EBED38}" destId="{88A97FF0-FC50-40FD-88EE-C811279FBB31}" srcOrd="0" destOrd="0" presId="urn:microsoft.com/office/officeart/2008/layout/LinedList"/>
    <dgm:cxn modelId="{6354F812-8CA6-4B34-AC18-2F8E4E4C07C3}" type="presParOf" srcId="{ABCDF801-A220-4107-BD2E-4B6627EBED38}" destId="{1C2C3C8D-29D5-4608-A8CF-E9DC1AE1C6F4}" srcOrd="1" destOrd="0" presId="urn:microsoft.com/office/officeart/2008/layout/LinedList"/>
    <dgm:cxn modelId="{29E6C9B9-9716-4E99-AC42-B249566F081C}" type="presParOf" srcId="{8D31FD59-604E-4FB7-9CD1-1438DEDE23C0}" destId="{20075939-D119-4261-869D-CA34BB43A8D8}" srcOrd="16" destOrd="0" presId="urn:microsoft.com/office/officeart/2008/layout/LinedList"/>
    <dgm:cxn modelId="{3142AFE1-201D-45A5-A80C-B396BDDFC1A0}" type="presParOf" srcId="{8D31FD59-604E-4FB7-9CD1-1438DEDE23C0}" destId="{BCC98E2A-01FA-45B8-858B-9661974CC71B}" srcOrd="17" destOrd="0" presId="urn:microsoft.com/office/officeart/2008/layout/LinedList"/>
    <dgm:cxn modelId="{D8679852-A152-4D15-ABF7-32642F5600B5}" type="presParOf" srcId="{BCC98E2A-01FA-45B8-858B-9661974CC71B}" destId="{2A544124-59C3-4258-886E-616A2EAC3488}" srcOrd="0" destOrd="0" presId="urn:microsoft.com/office/officeart/2008/layout/LinedList"/>
    <dgm:cxn modelId="{0C81DE3E-B367-4FE0-91F0-B17CDA8EAB83}" type="presParOf" srcId="{BCC98E2A-01FA-45B8-858B-9661974CC71B}" destId="{08764FBB-17F1-40B7-9FDC-463CAAC966F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C643FFA-DFCF-45B7-9BD2-B7E15CA160A9}"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99D884FE-453F-46A4-95A7-7B01CBB482EA}">
      <dgm:prSet/>
      <dgm:spPr/>
      <dgm:t>
        <a:bodyPr/>
        <a:lstStyle/>
        <a:p>
          <a:r>
            <a:rPr lang="en-GB" b="0" dirty="0">
              <a:latin typeface="Georgia Pro Light" panose="02040302050405020303" pitchFamily="18" charset="0"/>
            </a:rPr>
            <a:t>Developed custom DAX queries to extract insights not directly visible in the tables</a:t>
          </a:r>
          <a:endParaRPr lang="en-US" b="0" dirty="0">
            <a:latin typeface="Georgia Pro Light" panose="02040302050405020303" pitchFamily="18" charset="0"/>
          </a:endParaRPr>
        </a:p>
      </dgm:t>
    </dgm:pt>
    <dgm:pt modelId="{971C295D-D7D2-4A1B-A1BC-2A047C7F16DC}" type="parTrans" cxnId="{74FD632A-3E6F-4D50-B8C4-2E140AFBDD04}">
      <dgm:prSet/>
      <dgm:spPr/>
      <dgm:t>
        <a:bodyPr/>
        <a:lstStyle/>
        <a:p>
          <a:endParaRPr lang="en-US"/>
        </a:p>
      </dgm:t>
    </dgm:pt>
    <dgm:pt modelId="{2EA06F66-8C43-4C27-A4A5-052104AE7920}" type="sibTrans" cxnId="{74FD632A-3E6F-4D50-B8C4-2E140AFBDD04}">
      <dgm:prSet/>
      <dgm:spPr/>
      <dgm:t>
        <a:bodyPr/>
        <a:lstStyle/>
        <a:p>
          <a:endParaRPr lang="en-US"/>
        </a:p>
      </dgm:t>
    </dgm:pt>
    <dgm:pt modelId="{4BC22646-3568-43DD-825B-412BEBB16FF9}">
      <dgm:prSet/>
      <dgm:spPr/>
      <dgm:t>
        <a:bodyPr/>
        <a:lstStyle/>
        <a:p>
          <a:r>
            <a:rPr lang="en-GB" b="0" dirty="0">
              <a:latin typeface="Georgia Pro Light" panose="02040302050405020303" pitchFamily="18" charset="0"/>
            </a:rPr>
            <a:t>Used DAX to compare yearly growth, evaluate performance against goals, and filter top customers</a:t>
          </a:r>
          <a:endParaRPr lang="en-US" b="0" dirty="0">
            <a:latin typeface="Georgia Pro Light" panose="02040302050405020303" pitchFamily="18" charset="0"/>
          </a:endParaRPr>
        </a:p>
      </dgm:t>
    </dgm:pt>
    <dgm:pt modelId="{F2A6BF6C-B639-472E-B694-588114992B8E}" type="parTrans" cxnId="{1F601E0C-8BCF-47D5-909E-11BAA507EAAA}">
      <dgm:prSet/>
      <dgm:spPr/>
      <dgm:t>
        <a:bodyPr/>
        <a:lstStyle/>
        <a:p>
          <a:endParaRPr lang="en-US"/>
        </a:p>
      </dgm:t>
    </dgm:pt>
    <dgm:pt modelId="{E878D0D9-41AE-4C71-B18A-17A3465561DF}" type="sibTrans" cxnId="{1F601E0C-8BCF-47D5-909E-11BAA507EAAA}">
      <dgm:prSet/>
      <dgm:spPr/>
      <dgm:t>
        <a:bodyPr/>
        <a:lstStyle/>
        <a:p>
          <a:endParaRPr lang="en-US"/>
        </a:p>
      </dgm:t>
    </dgm:pt>
    <dgm:pt modelId="{A2485710-3B2B-427B-95AB-0722043AA0EC}" type="pres">
      <dgm:prSet presAssocID="{EC643FFA-DFCF-45B7-9BD2-B7E15CA160A9}" presName="Name0" presStyleCnt="0">
        <dgm:presLayoutVars>
          <dgm:dir/>
          <dgm:resizeHandles val="exact"/>
        </dgm:presLayoutVars>
      </dgm:prSet>
      <dgm:spPr/>
    </dgm:pt>
    <dgm:pt modelId="{33F08128-6AF8-463F-8FA0-53E4D44BB37B}" type="pres">
      <dgm:prSet presAssocID="{99D884FE-453F-46A4-95A7-7B01CBB482EA}" presName="node" presStyleLbl="node1" presStyleIdx="0" presStyleCnt="2">
        <dgm:presLayoutVars>
          <dgm:bulletEnabled val="1"/>
        </dgm:presLayoutVars>
      </dgm:prSet>
      <dgm:spPr/>
    </dgm:pt>
    <dgm:pt modelId="{52C97381-E6FB-4E2B-9FEF-1035BC4215C5}" type="pres">
      <dgm:prSet presAssocID="{2EA06F66-8C43-4C27-A4A5-052104AE7920}" presName="sibTrans" presStyleLbl="sibTrans1D1" presStyleIdx="0" presStyleCnt="1"/>
      <dgm:spPr/>
    </dgm:pt>
    <dgm:pt modelId="{A636473F-26C5-467C-8427-FAE51FF04639}" type="pres">
      <dgm:prSet presAssocID="{2EA06F66-8C43-4C27-A4A5-052104AE7920}" presName="connectorText" presStyleLbl="sibTrans1D1" presStyleIdx="0" presStyleCnt="1"/>
      <dgm:spPr/>
    </dgm:pt>
    <dgm:pt modelId="{8EC7E6D6-AA43-42AD-A0AE-449CAD20ACFE}" type="pres">
      <dgm:prSet presAssocID="{4BC22646-3568-43DD-825B-412BEBB16FF9}" presName="node" presStyleLbl="node1" presStyleIdx="1" presStyleCnt="2">
        <dgm:presLayoutVars>
          <dgm:bulletEnabled val="1"/>
        </dgm:presLayoutVars>
      </dgm:prSet>
      <dgm:spPr/>
    </dgm:pt>
  </dgm:ptLst>
  <dgm:cxnLst>
    <dgm:cxn modelId="{1F601E0C-8BCF-47D5-909E-11BAA507EAAA}" srcId="{EC643FFA-DFCF-45B7-9BD2-B7E15CA160A9}" destId="{4BC22646-3568-43DD-825B-412BEBB16FF9}" srcOrd="1" destOrd="0" parTransId="{F2A6BF6C-B639-472E-B694-588114992B8E}" sibTransId="{E878D0D9-41AE-4C71-B18A-17A3465561DF}"/>
    <dgm:cxn modelId="{D5266027-3DD0-4360-9C71-F0FE61BD8D1C}" type="presOf" srcId="{2EA06F66-8C43-4C27-A4A5-052104AE7920}" destId="{52C97381-E6FB-4E2B-9FEF-1035BC4215C5}" srcOrd="0" destOrd="0" presId="urn:microsoft.com/office/officeart/2016/7/layout/RepeatingBendingProcessNew"/>
    <dgm:cxn modelId="{74FD632A-3E6F-4D50-B8C4-2E140AFBDD04}" srcId="{EC643FFA-DFCF-45B7-9BD2-B7E15CA160A9}" destId="{99D884FE-453F-46A4-95A7-7B01CBB482EA}" srcOrd="0" destOrd="0" parTransId="{971C295D-D7D2-4A1B-A1BC-2A047C7F16DC}" sibTransId="{2EA06F66-8C43-4C27-A4A5-052104AE7920}"/>
    <dgm:cxn modelId="{9F823252-89B4-44FB-831B-B416F7686595}" type="presOf" srcId="{99D884FE-453F-46A4-95A7-7B01CBB482EA}" destId="{33F08128-6AF8-463F-8FA0-53E4D44BB37B}" srcOrd="0" destOrd="0" presId="urn:microsoft.com/office/officeart/2016/7/layout/RepeatingBendingProcessNew"/>
    <dgm:cxn modelId="{CC48D478-E935-4A72-A4A6-738D87BCAB0E}" type="presOf" srcId="{2EA06F66-8C43-4C27-A4A5-052104AE7920}" destId="{A636473F-26C5-467C-8427-FAE51FF04639}" srcOrd="1" destOrd="0" presId="urn:microsoft.com/office/officeart/2016/7/layout/RepeatingBendingProcessNew"/>
    <dgm:cxn modelId="{AB569ECA-9873-452D-8A3B-E059371CD4DE}" type="presOf" srcId="{4BC22646-3568-43DD-825B-412BEBB16FF9}" destId="{8EC7E6D6-AA43-42AD-A0AE-449CAD20ACFE}" srcOrd="0" destOrd="0" presId="urn:microsoft.com/office/officeart/2016/7/layout/RepeatingBendingProcessNew"/>
    <dgm:cxn modelId="{73A0E4FE-FD10-4F2E-9FFD-B12BF25C5678}" type="presOf" srcId="{EC643FFA-DFCF-45B7-9BD2-B7E15CA160A9}" destId="{A2485710-3B2B-427B-95AB-0722043AA0EC}" srcOrd="0" destOrd="0" presId="urn:microsoft.com/office/officeart/2016/7/layout/RepeatingBendingProcessNew"/>
    <dgm:cxn modelId="{C7C5CD12-44B8-480A-9D73-09DD31135CAB}" type="presParOf" srcId="{A2485710-3B2B-427B-95AB-0722043AA0EC}" destId="{33F08128-6AF8-463F-8FA0-53E4D44BB37B}" srcOrd="0" destOrd="0" presId="urn:microsoft.com/office/officeart/2016/7/layout/RepeatingBendingProcessNew"/>
    <dgm:cxn modelId="{53D90542-1EEF-4FD9-BA57-229DE2368D5D}" type="presParOf" srcId="{A2485710-3B2B-427B-95AB-0722043AA0EC}" destId="{52C97381-E6FB-4E2B-9FEF-1035BC4215C5}" srcOrd="1" destOrd="0" presId="urn:microsoft.com/office/officeart/2016/7/layout/RepeatingBendingProcessNew"/>
    <dgm:cxn modelId="{21A7DDF0-CC7A-4C9F-9A69-AEB4598CA106}" type="presParOf" srcId="{52C97381-E6FB-4E2B-9FEF-1035BC4215C5}" destId="{A636473F-26C5-467C-8427-FAE51FF04639}" srcOrd="0" destOrd="0" presId="urn:microsoft.com/office/officeart/2016/7/layout/RepeatingBendingProcessNew"/>
    <dgm:cxn modelId="{C8C09C42-C8CE-49D5-BFBE-FB98B1717843}" type="presParOf" srcId="{A2485710-3B2B-427B-95AB-0722043AA0EC}" destId="{8EC7E6D6-AA43-42AD-A0AE-449CAD20ACFE}" srcOrd="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4DD87-BE81-46E7-B1E2-169F6D7F1B46}">
      <dsp:nvSpPr>
        <dsp:cNvPr id="0" name=""/>
        <dsp:cNvSpPr/>
      </dsp:nvSpPr>
      <dsp:spPr>
        <a:xfrm>
          <a:off x="0" y="0"/>
          <a:ext cx="6364224" cy="1157578"/>
        </a:xfrm>
        <a:prstGeom prst="roundRect">
          <a:avLst>
            <a:gd name="adj" fmla="val 10000"/>
          </a:avLst>
        </a:prstGeom>
        <a:noFill/>
        <a:ln w="79375">
          <a:solidFill>
            <a:schemeClr val="accent1"/>
          </a:solidFill>
        </a:ln>
        <a:effectLst/>
      </dsp:spPr>
      <dsp:style>
        <a:lnRef idx="0">
          <a:scrgbClr r="0" g="0" b="0"/>
        </a:lnRef>
        <a:fillRef idx="1">
          <a:scrgbClr r="0" g="0" b="0"/>
        </a:fillRef>
        <a:effectRef idx="0">
          <a:scrgbClr r="0" g="0" b="0"/>
        </a:effectRef>
        <a:fontRef idx="minor"/>
      </dsp:style>
    </dsp:sp>
    <dsp:sp modelId="{2AAC5C86-2624-4B71-88FA-A4A44EE4C699}">
      <dsp:nvSpPr>
        <dsp:cNvPr id="0" name=""/>
        <dsp:cNvSpPr/>
      </dsp:nvSpPr>
      <dsp:spPr>
        <a:xfrm>
          <a:off x="0" y="343280"/>
          <a:ext cx="94266" cy="59646"/>
        </a:xfrm>
        <a:prstGeom prst="rect">
          <a:avLst/>
        </a:prstGeom>
        <a:solidFill>
          <a:schemeClr val="bg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BCA8E1-E6C8-415C-BD41-E680CEF47A39}">
      <dsp:nvSpPr>
        <dsp:cNvPr id="0" name=""/>
        <dsp:cNvSpPr/>
      </dsp:nvSpPr>
      <dsp:spPr>
        <a:xfrm>
          <a:off x="106670" y="18558"/>
          <a:ext cx="5331338" cy="115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510" tIns="122510" rIns="122510" bIns="122510" numCol="1" spcCol="1270" anchor="ctr" anchorCtr="0">
          <a:noAutofit/>
        </a:bodyPr>
        <a:lstStyle/>
        <a:p>
          <a:pPr marL="0" lvl="0" indent="0" algn="l" defTabSz="889000">
            <a:lnSpc>
              <a:spcPct val="90000"/>
            </a:lnSpc>
            <a:spcBef>
              <a:spcPct val="0"/>
            </a:spcBef>
            <a:spcAft>
              <a:spcPct val="35000"/>
            </a:spcAft>
            <a:buNone/>
          </a:pPr>
          <a:r>
            <a:rPr lang="en-GB" sz="2000" kern="1200" dirty="0">
              <a:solidFill>
                <a:schemeClr val="tx1"/>
              </a:solidFill>
              <a:latin typeface="Georgia Pro Light" panose="02040302050405020303" pitchFamily="18" charset="0"/>
            </a:rPr>
            <a:t>Implement the concepts taught in the course such as semantic modelling, dashboard creation, and business analysis using tools </a:t>
          </a:r>
          <a:endParaRPr lang="en-US" sz="2000" kern="1200" dirty="0">
            <a:latin typeface="Georgia Pro Light" panose="02040302050405020303" pitchFamily="18" charset="0"/>
          </a:endParaRPr>
        </a:p>
      </dsp:txBody>
      <dsp:txXfrm>
        <a:off x="106670" y="18558"/>
        <a:ext cx="5331338" cy="1157578"/>
      </dsp:txXfrm>
    </dsp:sp>
    <dsp:sp modelId="{B3DB4AE0-4576-4340-9C73-47B176D1C7D3}">
      <dsp:nvSpPr>
        <dsp:cNvPr id="0" name=""/>
        <dsp:cNvSpPr/>
      </dsp:nvSpPr>
      <dsp:spPr>
        <a:xfrm>
          <a:off x="0" y="1454639"/>
          <a:ext cx="6364224" cy="115757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ECC365-2F39-45D1-9C76-E9B66B0EF85A}">
      <dsp:nvSpPr>
        <dsp:cNvPr id="0" name=""/>
        <dsp:cNvSpPr/>
      </dsp:nvSpPr>
      <dsp:spPr>
        <a:xfrm>
          <a:off x="350167" y="1715094"/>
          <a:ext cx="636668" cy="6366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3BC22A-BC98-4707-9B9C-D1426E04F670}">
      <dsp:nvSpPr>
        <dsp:cNvPr id="0" name=""/>
        <dsp:cNvSpPr/>
      </dsp:nvSpPr>
      <dsp:spPr>
        <a:xfrm>
          <a:off x="1337003" y="1454639"/>
          <a:ext cx="5025913" cy="115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510" tIns="122510" rIns="122510" bIns="122510" numCol="1" spcCol="1270" anchor="ctr" anchorCtr="0">
          <a:noAutofit/>
        </a:bodyPr>
        <a:lstStyle/>
        <a:p>
          <a:pPr marL="0" lvl="0" indent="0" algn="l" defTabSz="889000">
            <a:lnSpc>
              <a:spcPct val="90000"/>
            </a:lnSpc>
            <a:spcBef>
              <a:spcPct val="0"/>
            </a:spcBef>
            <a:spcAft>
              <a:spcPct val="35000"/>
            </a:spcAft>
            <a:buNone/>
          </a:pPr>
          <a:r>
            <a:rPr lang="en-GB" sz="2000" kern="1200"/>
            <a:t>Power BI  </a:t>
          </a:r>
          <a:endParaRPr lang="en-US" sz="2000" kern="1200"/>
        </a:p>
      </dsp:txBody>
      <dsp:txXfrm>
        <a:off x="1337003" y="1454639"/>
        <a:ext cx="5025913" cy="1157578"/>
      </dsp:txXfrm>
    </dsp:sp>
    <dsp:sp modelId="{4C99B4E7-85C8-4D1D-B5E1-CF9215B50D52}">
      <dsp:nvSpPr>
        <dsp:cNvPr id="0" name=""/>
        <dsp:cNvSpPr/>
      </dsp:nvSpPr>
      <dsp:spPr>
        <a:xfrm>
          <a:off x="0" y="2901613"/>
          <a:ext cx="6364224" cy="115757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C487A6-A1C8-4F52-9C68-C3062E34ADF4}">
      <dsp:nvSpPr>
        <dsp:cNvPr id="0" name=""/>
        <dsp:cNvSpPr/>
      </dsp:nvSpPr>
      <dsp:spPr>
        <a:xfrm>
          <a:off x="350167" y="3162068"/>
          <a:ext cx="636668" cy="6366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5EA205-9F7C-49A2-9203-E2E555E3100B}">
      <dsp:nvSpPr>
        <dsp:cNvPr id="0" name=""/>
        <dsp:cNvSpPr/>
      </dsp:nvSpPr>
      <dsp:spPr>
        <a:xfrm>
          <a:off x="1337003" y="2901613"/>
          <a:ext cx="5025913" cy="115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510" tIns="122510" rIns="122510" bIns="122510" numCol="1" spcCol="1270" anchor="ctr" anchorCtr="0">
          <a:noAutofit/>
        </a:bodyPr>
        <a:lstStyle/>
        <a:p>
          <a:pPr marL="0" lvl="0" indent="0" algn="l" defTabSz="889000">
            <a:lnSpc>
              <a:spcPct val="90000"/>
            </a:lnSpc>
            <a:spcBef>
              <a:spcPct val="0"/>
            </a:spcBef>
            <a:spcAft>
              <a:spcPct val="35000"/>
            </a:spcAft>
            <a:buNone/>
          </a:pPr>
          <a:r>
            <a:rPr lang="en-GB" sz="2000" kern="1200"/>
            <a:t>Power Pivot / Power Query / Power View  </a:t>
          </a:r>
          <a:endParaRPr lang="en-US" sz="2000" kern="1200"/>
        </a:p>
      </dsp:txBody>
      <dsp:txXfrm>
        <a:off x="1337003" y="2901613"/>
        <a:ext cx="5025913" cy="1157578"/>
      </dsp:txXfrm>
    </dsp:sp>
    <dsp:sp modelId="{A1B7BE6D-FB04-4711-BE68-EFD62B149C30}">
      <dsp:nvSpPr>
        <dsp:cNvPr id="0" name=""/>
        <dsp:cNvSpPr/>
      </dsp:nvSpPr>
      <dsp:spPr>
        <a:xfrm>
          <a:off x="0" y="4348587"/>
          <a:ext cx="6364224" cy="115757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A5F2E8-E174-4BAC-B076-A50E716741AC}">
      <dsp:nvSpPr>
        <dsp:cNvPr id="0" name=""/>
        <dsp:cNvSpPr/>
      </dsp:nvSpPr>
      <dsp:spPr>
        <a:xfrm>
          <a:off x="350167" y="4609042"/>
          <a:ext cx="636668" cy="6366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10054E-BF4A-41A8-AD0D-3308D5406B03}">
      <dsp:nvSpPr>
        <dsp:cNvPr id="0" name=""/>
        <dsp:cNvSpPr/>
      </dsp:nvSpPr>
      <dsp:spPr>
        <a:xfrm>
          <a:off x="1337003" y="4348587"/>
          <a:ext cx="5025913" cy="115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510" tIns="122510" rIns="122510" bIns="122510" numCol="1" spcCol="1270" anchor="ctr" anchorCtr="0">
          <a:noAutofit/>
        </a:bodyPr>
        <a:lstStyle/>
        <a:p>
          <a:pPr marL="0" lvl="0" indent="0" algn="l" defTabSz="889000">
            <a:lnSpc>
              <a:spcPct val="90000"/>
            </a:lnSpc>
            <a:spcBef>
              <a:spcPct val="0"/>
            </a:spcBef>
            <a:spcAft>
              <a:spcPct val="35000"/>
            </a:spcAft>
            <a:buNone/>
          </a:pPr>
          <a:r>
            <a:rPr lang="en-GB" sz="2000" kern="1200"/>
            <a:t>DAX  </a:t>
          </a:r>
          <a:endParaRPr lang="en-US" sz="2000" kern="1200"/>
        </a:p>
      </dsp:txBody>
      <dsp:txXfrm>
        <a:off x="1337003" y="4348587"/>
        <a:ext cx="5025913" cy="11575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117475-D6AB-4F5C-B801-803E87FA237D}">
      <dsp:nvSpPr>
        <dsp:cNvPr id="0" name=""/>
        <dsp:cNvSpPr/>
      </dsp:nvSpPr>
      <dsp:spPr>
        <a:xfrm>
          <a:off x="973190" y="986724"/>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B9CD0A-0321-4BC4-B9B2-625F979A3144}">
      <dsp:nvSpPr>
        <dsp:cNvPr id="0" name=""/>
        <dsp:cNvSpPr/>
      </dsp:nvSpPr>
      <dsp:spPr>
        <a:xfrm>
          <a:off x="1242597" y="1256131"/>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89D6DB-D485-4B3B-B485-50564AA070F3}">
      <dsp:nvSpPr>
        <dsp:cNvPr id="0" name=""/>
        <dsp:cNvSpPr/>
      </dsp:nvSpPr>
      <dsp:spPr>
        <a:xfrm>
          <a:off x="569079"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Data preparation </a:t>
          </a:r>
        </a:p>
      </dsp:txBody>
      <dsp:txXfrm>
        <a:off x="569079" y="2644614"/>
        <a:ext cx="2072362" cy="720000"/>
      </dsp:txXfrm>
    </dsp:sp>
    <dsp:sp modelId="{5534A3A2-0435-47AD-89A6-9EAA9B8A375B}">
      <dsp:nvSpPr>
        <dsp:cNvPr id="0" name=""/>
        <dsp:cNvSpPr/>
      </dsp:nvSpPr>
      <dsp:spPr>
        <a:xfrm>
          <a:off x="3408216" y="986724"/>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92A34F-5759-47C8-9BBF-31964876CB1A}">
      <dsp:nvSpPr>
        <dsp:cNvPr id="0" name=""/>
        <dsp:cNvSpPr/>
      </dsp:nvSpPr>
      <dsp:spPr>
        <a:xfrm>
          <a:off x="3677623" y="1256131"/>
          <a:ext cx="725326" cy="725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E6D9E9-5049-444B-A701-F7A0D45135CB}">
      <dsp:nvSpPr>
        <dsp:cNvPr id="0" name=""/>
        <dsp:cNvSpPr/>
      </dsp:nvSpPr>
      <dsp:spPr>
        <a:xfrm>
          <a:off x="3004105"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Data modeling </a:t>
          </a:r>
        </a:p>
      </dsp:txBody>
      <dsp:txXfrm>
        <a:off x="3004105" y="2644614"/>
        <a:ext cx="2072362" cy="720000"/>
      </dsp:txXfrm>
    </dsp:sp>
    <dsp:sp modelId="{211B6C13-7521-4BD2-AE31-55640BF60220}">
      <dsp:nvSpPr>
        <dsp:cNvPr id="0" name=""/>
        <dsp:cNvSpPr/>
      </dsp:nvSpPr>
      <dsp:spPr>
        <a:xfrm>
          <a:off x="5843242" y="986724"/>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80CEA1-D803-4334-9AC9-28B35522F1AA}">
      <dsp:nvSpPr>
        <dsp:cNvPr id="0" name=""/>
        <dsp:cNvSpPr/>
      </dsp:nvSpPr>
      <dsp:spPr>
        <a:xfrm>
          <a:off x="6112649" y="1256131"/>
          <a:ext cx="725326" cy="7253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949C1C-50DC-4D29-9E8E-8B95EA375BA5}">
      <dsp:nvSpPr>
        <dsp:cNvPr id="0" name=""/>
        <dsp:cNvSpPr/>
      </dsp:nvSpPr>
      <dsp:spPr>
        <a:xfrm>
          <a:off x="5439131"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Power BI Report Building</a:t>
          </a:r>
        </a:p>
      </dsp:txBody>
      <dsp:txXfrm>
        <a:off x="5439131" y="2644614"/>
        <a:ext cx="2072362" cy="720000"/>
      </dsp:txXfrm>
    </dsp:sp>
    <dsp:sp modelId="{EAC3D864-5809-4757-9318-B02ACF6FBF39}">
      <dsp:nvSpPr>
        <dsp:cNvPr id="0" name=""/>
        <dsp:cNvSpPr/>
      </dsp:nvSpPr>
      <dsp:spPr>
        <a:xfrm>
          <a:off x="8278268" y="986724"/>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CAAE63-FF63-4D50-B1CF-11B8844466E8}">
      <dsp:nvSpPr>
        <dsp:cNvPr id="0" name=""/>
        <dsp:cNvSpPr/>
      </dsp:nvSpPr>
      <dsp:spPr>
        <a:xfrm>
          <a:off x="8547675" y="1256131"/>
          <a:ext cx="725326" cy="7253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C6E855-620E-46B4-91A4-065F36AD401E}">
      <dsp:nvSpPr>
        <dsp:cNvPr id="0" name=""/>
        <dsp:cNvSpPr/>
      </dsp:nvSpPr>
      <dsp:spPr>
        <a:xfrm>
          <a:off x="7874157"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Advance Dax Analisis</a:t>
          </a:r>
        </a:p>
      </dsp:txBody>
      <dsp:txXfrm>
        <a:off x="7874157" y="2644614"/>
        <a:ext cx="2072362"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04F54-994C-47A7-8A5C-568D08133AF6}">
      <dsp:nvSpPr>
        <dsp:cNvPr id="0" name=""/>
        <dsp:cNvSpPr/>
      </dsp:nvSpPr>
      <dsp:spPr>
        <a:xfrm>
          <a:off x="0" y="0"/>
          <a:ext cx="8097012" cy="78324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Imported SQL tables and CSV (regions) into Power Query</a:t>
          </a:r>
        </a:p>
      </dsp:txBody>
      <dsp:txXfrm>
        <a:off x="22940" y="22940"/>
        <a:ext cx="7160195" cy="737360"/>
      </dsp:txXfrm>
    </dsp:sp>
    <dsp:sp modelId="{D5828EA2-EE6B-4712-971F-45B66B3AC3F5}">
      <dsp:nvSpPr>
        <dsp:cNvPr id="0" name=""/>
        <dsp:cNvSpPr/>
      </dsp:nvSpPr>
      <dsp:spPr>
        <a:xfrm>
          <a:off x="604647" y="892024"/>
          <a:ext cx="8097012" cy="783240"/>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Renamed columns (e.g., SK, BK), removed or added fields as needed</a:t>
          </a:r>
        </a:p>
      </dsp:txBody>
      <dsp:txXfrm>
        <a:off x="627587" y="914964"/>
        <a:ext cx="6937378" cy="737360"/>
      </dsp:txXfrm>
    </dsp:sp>
    <dsp:sp modelId="{C9B9BFDE-A809-4B7B-B3C8-64B17EA9AB50}">
      <dsp:nvSpPr>
        <dsp:cNvPr id="0" name=""/>
        <dsp:cNvSpPr/>
      </dsp:nvSpPr>
      <dsp:spPr>
        <a:xfrm>
          <a:off x="1209293" y="1784048"/>
          <a:ext cx="8097012" cy="783240"/>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Performed data cleansing: handled nulls, standardized formats</a:t>
          </a:r>
        </a:p>
      </dsp:txBody>
      <dsp:txXfrm>
        <a:off x="1232233" y="1806988"/>
        <a:ext cx="6937378" cy="737360"/>
      </dsp:txXfrm>
    </dsp:sp>
    <dsp:sp modelId="{F484CF40-F2A6-4145-9C87-EAC120048F30}">
      <dsp:nvSpPr>
        <dsp:cNvPr id="0" name=""/>
        <dsp:cNvSpPr/>
      </dsp:nvSpPr>
      <dsp:spPr>
        <a:xfrm>
          <a:off x="1813940" y="2676072"/>
          <a:ext cx="8097012" cy="783240"/>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Defined Fact and Dimension tables</a:t>
          </a:r>
        </a:p>
      </dsp:txBody>
      <dsp:txXfrm>
        <a:off x="1836880" y="2699012"/>
        <a:ext cx="6937378" cy="737360"/>
      </dsp:txXfrm>
    </dsp:sp>
    <dsp:sp modelId="{5376F18E-28AF-411D-B7EB-75D644A30DFA}">
      <dsp:nvSpPr>
        <dsp:cNvPr id="0" name=""/>
        <dsp:cNvSpPr/>
      </dsp:nvSpPr>
      <dsp:spPr>
        <a:xfrm>
          <a:off x="2418587" y="3568097"/>
          <a:ext cx="8097012" cy="783240"/>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Created a custom </a:t>
          </a:r>
          <a:r>
            <a:rPr lang="en-US" sz="1400" b="1" kern="1200" dirty="0" err="1"/>
            <a:t>Dim_Date</a:t>
          </a:r>
          <a:r>
            <a:rPr lang="en-US" sz="1400" kern="1200" dirty="0"/>
            <a:t> table using start and end years</a:t>
          </a:r>
          <a:br>
            <a:rPr lang="en-US" sz="1400" kern="1200" dirty="0"/>
          </a:br>
          <a:r>
            <a:rPr lang="en-US" sz="1400" kern="1200" dirty="0"/>
            <a:t> Generated continuous dates based on quarters, with random days and order</a:t>
          </a:r>
          <a:br>
            <a:rPr lang="en-US" sz="1400" kern="1200" dirty="0"/>
          </a:br>
          <a:r>
            <a:rPr lang="en-US" sz="1400" kern="1200" dirty="0"/>
            <a:t> Created </a:t>
          </a:r>
          <a:r>
            <a:rPr lang="en-US" sz="1400" kern="1200" dirty="0" err="1"/>
            <a:t>DateKey</a:t>
          </a:r>
          <a:r>
            <a:rPr lang="en-US" sz="1400" kern="1200" dirty="0"/>
            <a:t> for relationships</a:t>
          </a:r>
        </a:p>
      </dsp:txBody>
      <dsp:txXfrm>
        <a:off x="2441527" y="3591037"/>
        <a:ext cx="6937378" cy="737360"/>
      </dsp:txXfrm>
    </dsp:sp>
    <dsp:sp modelId="{B6F5B886-8133-4EA5-89DB-690997AAAF72}">
      <dsp:nvSpPr>
        <dsp:cNvPr id="0" name=""/>
        <dsp:cNvSpPr/>
      </dsp:nvSpPr>
      <dsp:spPr>
        <a:xfrm>
          <a:off x="7587905" y="572200"/>
          <a:ext cx="509106" cy="509106"/>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7702454" y="572200"/>
        <a:ext cx="280008" cy="383102"/>
      </dsp:txXfrm>
    </dsp:sp>
    <dsp:sp modelId="{0403D7C4-7348-46F8-8F8B-99931F5ABF54}">
      <dsp:nvSpPr>
        <dsp:cNvPr id="0" name=""/>
        <dsp:cNvSpPr/>
      </dsp:nvSpPr>
      <dsp:spPr>
        <a:xfrm>
          <a:off x="8192552" y="1464225"/>
          <a:ext cx="509106" cy="509106"/>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307101" y="1464225"/>
        <a:ext cx="280008" cy="383102"/>
      </dsp:txXfrm>
    </dsp:sp>
    <dsp:sp modelId="{F3588BD9-90CE-4406-87F1-74B36DF1100B}">
      <dsp:nvSpPr>
        <dsp:cNvPr id="0" name=""/>
        <dsp:cNvSpPr/>
      </dsp:nvSpPr>
      <dsp:spPr>
        <a:xfrm>
          <a:off x="8797199" y="2343195"/>
          <a:ext cx="509106" cy="509106"/>
        </a:xfrm>
        <a:prstGeom prst="downArrow">
          <a:avLst>
            <a:gd name="adj1" fmla="val 55000"/>
            <a:gd name="adj2" fmla="val 45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911748" y="2343195"/>
        <a:ext cx="280008" cy="383102"/>
      </dsp:txXfrm>
    </dsp:sp>
    <dsp:sp modelId="{92574310-1606-4DD0-A12E-513F93AEF90E}">
      <dsp:nvSpPr>
        <dsp:cNvPr id="0" name=""/>
        <dsp:cNvSpPr/>
      </dsp:nvSpPr>
      <dsp:spPr>
        <a:xfrm>
          <a:off x="9401846" y="3243922"/>
          <a:ext cx="509106" cy="509106"/>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516395" y="3243922"/>
        <a:ext cx="280008" cy="3831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710C29-2C69-49C8-8F02-2EE6AE016644}">
      <dsp:nvSpPr>
        <dsp:cNvPr id="0" name=""/>
        <dsp:cNvSpPr/>
      </dsp:nvSpPr>
      <dsp:spPr>
        <a:xfrm>
          <a:off x="205" y="486439"/>
          <a:ext cx="2479997" cy="297599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Georgia Pro Light" panose="02040302050405020303" pitchFamily="18" charset="0"/>
            </a:rPr>
            <a:t>Loaded cleaned data into Power Pivot using Manage Data Model</a:t>
          </a:r>
        </a:p>
      </dsp:txBody>
      <dsp:txXfrm>
        <a:off x="205" y="1676838"/>
        <a:ext cx="2479997" cy="1785598"/>
      </dsp:txXfrm>
    </dsp:sp>
    <dsp:sp modelId="{1292DFA2-7286-4781-BAA5-E02170CAA084}">
      <dsp:nvSpPr>
        <dsp:cNvPr id="0" name=""/>
        <dsp:cNvSpPr/>
      </dsp:nvSpPr>
      <dsp:spPr>
        <a:xfrm>
          <a:off x="205" y="486439"/>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p>
      </dsp:txBody>
      <dsp:txXfrm>
        <a:off x="205" y="486439"/>
        <a:ext cx="2479997" cy="1190398"/>
      </dsp:txXfrm>
    </dsp:sp>
    <dsp:sp modelId="{59ECA869-2EDB-4167-AC2B-014CDB690BBC}">
      <dsp:nvSpPr>
        <dsp:cNvPr id="0" name=""/>
        <dsp:cNvSpPr/>
      </dsp:nvSpPr>
      <dsp:spPr>
        <a:xfrm>
          <a:off x="2678602" y="486439"/>
          <a:ext cx="2479997" cy="2975996"/>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Georgia Pro Light" panose="02040302050405020303" pitchFamily="18" charset="0"/>
            </a:rPr>
            <a:t>Built relationships in the diagram view: connected all dimension keys to </a:t>
          </a:r>
          <a:r>
            <a:rPr lang="en-US" sz="2000" kern="1200" dirty="0" err="1">
              <a:latin typeface="Georgia Pro Light" panose="02040302050405020303" pitchFamily="18" charset="0"/>
            </a:rPr>
            <a:t>Fact_Sales</a:t>
          </a:r>
          <a:endParaRPr lang="en-US" sz="2000" kern="1200" dirty="0">
            <a:latin typeface="Georgia Pro Light" panose="02040302050405020303" pitchFamily="18" charset="0"/>
          </a:endParaRPr>
        </a:p>
      </dsp:txBody>
      <dsp:txXfrm>
        <a:off x="2678602" y="1676838"/>
        <a:ext cx="2479997" cy="1785598"/>
      </dsp:txXfrm>
    </dsp:sp>
    <dsp:sp modelId="{8242CC82-EE59-4021-B9B8-29476ED6E331}">
      <dsp:nvSpPr>
        <dsp:cNvPr id="0" name=""/>
        <dsp:cNvSpPr/>
      </dsp:nvSpPr>
      <dsp:spPr>
        <a:xfrm>
          <a:off x="2678602" y="486439"/>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p>
      </dsp:txBody>
      <dsp:txXfrm>
        <a:off x="2678602" y="486439"/>
        <a:ext cx="2479997" cy="1190398"/>
      </dsp:txXfrm>
    </dsp:sp>
    <dsp:sp modelId="{60184552-A1AC-48A1-BB56-C209762D1D78}">
      <dsp:nvSpPr>
        <dsp:cNvPr id="0" name=""/>
        <dsp:cNvSpPr/>
      </dsp:nvSpPr>
      <dsp:spPr>
        <a:xfrm>
          <a:off x="5356999" y="486439"/>
          <a:ext cx="2479997" cy="2975996"/>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Georgia Pro Light" panose="02040302050405020303" pitchFamily="18" charset="0"/>
            </a:rPr>
            <a:t>Added calculated columns, measures, and KPIs</a:t>
          </a:r>
        </a:p>
      </dsp:txBody>
      <dsp:txXfrm>
        <a:off x="5356999" y="1676838"/>
        <a:ext cx="2479997" cy="1785598"/>
      </dsp:txXfrm>
    </dsp:sp>
    <dsp:sp modelId="{B566D3F0-F40C-4F04-8569-25F1F4F91D10}">
      <dsp:nvSpPr>
        <dsp:cNvPr id="0" name=""/>
        <dsp:cNvSpPr/>
      </dsp:nvSpPr>
      <dsp:spPr>
        <a:xfrm>
          <a:off x="5356999" y="486439"/>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p>
      </dsp:txBody>
      <dsp:txXfrm>
        <a:off x="5356999" y="486439"/>
        <a:ext cx="2479997" cy="1190398"/>
      </dsp:txXfrm>
    </dsp:sp>
    <dsp:sp modelId="{3510A56F-FC33-42EE-8695-9C8CB7E527A5}">
      <dsp:nvSpPr>
        <dsp:cNvPr id="0" name=""/>
        <dsp:cNvSpPr/>
      </dsp:nvSpPr>
      <dsp:spPr>
        <a:xfrm>
          <a:off x="8035397" y="486439"/>
          <a:ext cx="2479997" cy="2975996"/>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Georgia Pro Light" panose="02040302050405020303" pitchFamily="18" charset="0"/>
            </a:rPr>
            <a:t>In Excel sheets: inserted PivotTables, </a:t>
          </a:r>
          <a:r>
            <a:rPr lang="en-US" sz="2000" kern="1200" dirty="0" err="1">
              <a:latin typeface="Georgia Pro Light" panose="02040302050405020303" pitchFamily="18" charset="0"/>
            </a:rPr>
            <a:t>PivotCharts</a:t>
          </a:r>
          <a:r>
            <a:rPr lang="en-US" sz="2000" kern="1200" dirty="0">
              <a:latin typeface="Georgia Pro Light" panose="02040302050405020303" pitchFamily="18" charset="0"/>
            </a:rPr>
            <a:t>, and Slicers for filtering</a:t>
          </a:r>
        </a:p>
      </dsp:txBody>
      <dsp:txXfrm>
        <a:off x="8035397" y="1676838"/>
        <a:ext cx="2479997" cy="1785598"/>
      </dsp:txXfrm>
    </dsp:sp>
    <dsp:sp modelId="{38F1ABD1-B1E8-4270-93B6-5BE808772376}">
      <dsp:nvSpPr>
        <dsp:cNvPr id="0" name=""/>
        <dsp:cNvSpPr/>
      </dsp:nvSpPr>
      <dsp:spPr>
        <a:xfrm>
          <a:off x="8035397" y="486439"/>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p>
      </dsp:txBody>
      <dsp:txXfrm>
        <a:off x="8035397" y="486439"/>
        <a:ext cx="2479997" cy="11903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BA1656-D674-4070-B59E-828FCD26DE82}">
      <dsp:nvSpPr>
        <dsp:cNvPr id="0" name=""/>
        <dsp:cNvSpPr/>
      </dsp:nvSpPr>
      <dsp:spPr>
        <a:xfrm>
          <a:off x="0" y="531"/>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937C49-DD3B-4254-8005-B5005AA4D802}">
      <dsp:nvSpPr>
        <dsp:cNvPr id="0" name=""/>
        <dsp:cNvSpPr/>
      </dsp:nvSpPr>
      <dsp:spPr>
        <a:xfrm>
          <a:off x="0" y="531"/>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latin typeface="Georgia Pro Light" panose="02040302050405020303" pitchFamily="18" charset="0"/>
            </a:rPr>
            <a:t>Imported data model from Excel into Power BI</a:t>
          </a:r>
          <a:endParaRPr lang="en-US" sz="2200" kern="1200" dirty="0">
            <a:latin typeface="Georgia Pro Light" panose="02040302050405020303" pitchFamily="18" charset="0"/>
          </a:endParaRPr>
        </a:p>
      </dsp:txBody>
      <dsp:txXfrm>
        <a:off x="0" y="531"/>
        <a:ext cx="10515600" cy="483363"/>
      </dsp:txXfrm>
    </dsp:sp>
    <dsp:sp modelId="{969A53EC-4495-4EA2-9F57-DCB9AAC285B8}">
      <dsp:nvSpPr>
        <dsp:cNvPr id="0" name=""/>
        <dsp:cNvSpPr/>
      </dsp:nvSpPr>
      <dsp:spPr>
        <a:xfrm>
          <a:off x="0" y="483895"/>
          <a:ext cx="10515600" cy="0"/>
        </a:xfrm>
        <a:prstGeom prst="line">
          <a:avLst/>
        </a:prstGeom>
        <a:solidFill>
          <a:schemeClr val="accent2">
            <a:hueOff val="805452"/>
            <a:satOff val="-2312"/>
            <a:lumOff val="-3701"/>
            <a:alphaOff val="0"/>
          </a:schemeClr>
        </a:solidFill>
        <a:ln w="19050" cap="flat" cmpd="sng" algn="ctr">
          <a:solidFill>
            <a:schemeClr val="accent2">
              <a:hueOff val="805452"/>
              <a:satOff val="-2312"/>
              <a:lumOff val="-37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2B7984-6428-4A3A-9DDD-682AD0EAA702}">
      <dsp:nvSpPr>
        <dsp:cNvPr id="0" name=""/>
        <dsp:cNvSpPr/>
      </dsp:nvSpPr>
      <dsp:spPr>
        <a:xfrm>
          <a:off x="0" y="483895"/>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latin typeface="Georgia Pro Light" panose="02040302050405020303" pitchFamily="18" charset="0"/>
            </a:rPr>
            <a:t>Reviewed and renamed tables and columns for clarity</a:t>
          </a:r>
          <a:endParaRPr lang="en-US" sz="2200" kern="1200" dirty="0">
            <a:latin typeface="Georgia Pro Light" panose="02040302050405020303" pitchFamily="18" charset="0"/>
          </a:endParaRPr>
        </a:p>
      </dsp:txBody>
      <dsp:txXfrm>
        <a:off x="0" y="483895"/>
        <a:ext cx="10515600" cy="483363"/>
      </dsp:txXfrm>
    </dsp:sp>
    <dsp:sp modelId="{B0A0B52C-3028-46E8-8186-53488D006EBA}">
      <dsp:nvSpPr>
        <dsp:cNvPr id="0" name=""/>
        <dsp:cNvSpPr/>
      </dsp:nvSpPr>
      <dsp:spPr>
        <a:xfrm>
          <a:off x="0" y="967259"/>
          <a:ext cx="10515600"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7C6C66-0EDC-48BC-9DBB-6D1D1ED67F96}">
      <dsp:nvSpPr>
        <dsp:cNvPr id="0" name=""/>
        <dsp:cNvSpPr/>
      </dsp:nvSpPr>
      <dsp:spPr>
        <a:xfrm>
          <a:off x="0" y="967259"/>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latin typeface="Georgia Pro Light" panose="02040302050405020303" pitchFamily="18" charset="0"/>
            </a:rPr>
            <a:t>Hid unnecessary fields and grouped measures in folders</a:t>
          </a:r>
          <a:endParaRPr lang="en-US" sz="2200" kern="1200" dirty="0">
            <a:latin typeface="Georgia Pro Light" panose="02040302050405020303" pitchFamily="18" charset="0"/>
          </a:endParaRPr>
        </a:p>
      </dsp:txBody>
      <dsp:txXfrm>
        <a:off x="0" y="967259"/>
        <a:ext cx="10515600" cy="483363"/>
      </dsp:txXfrm>
    </dsp:sp>
    <dsp:sp modelId="{5F14174D-1A12-4D5D-AABF-BFDF5814B05D}">
      <dsp:nvSpPr>
        <dsp:cNvPr id="0" name=""/>
        <dsp:cNvSpPr/>
      </dsp:nvSpPr>
      <dsp:spPr>
        <a:xfrm>
          <a:off x="0" y="1450623"/>
          <a:ext cx="10515600" cy="0"/>
        </a:xfrm>
        <a:prstGeom prst="line">
          <a:avLst/>
        </a:prstGeom>
        <a:solidFill>
          <a:schemeClr val="accent2">
            <a:hueOff val="2416355"/>
            <a:satOff val="-6935"/>
            <a:lumOff val="-11103"/>
            <a:alphaOff val="0"/>
          </a:schemeClr>
        </a:solidFill>
        <a:ln w="19050" cap="flat" cmpd="sng" algn="ctr">
          <a:solidFill>
            <a:schemeClr val="accent2">
              <a:hueOff val="2416355"/>
              <a:satOff val="-6935"/>
              <a:lumOff val="-1110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A719FB-00C6-4E7D-B0FD-A71C92B8BBD3}">
      <dsp:nvSpPr>
        <dsp:cNvPr id="0" name=""/>
        <dsp:cNvSpPr/>
      </dsp:nvSpPr>
      <dsp:spPr>
        <a:xfrm>
          <a:off x="0" y="1450623"/>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latin typeface="Georgia Pro Light" panose="02040302050405020303" pitchFamily="18" charset="0"/>
            </a:rPr>
            <a:t>Created new measure table to organize DAX calculations</a:t>
          </a:r>
          <a:endParaRPr lang="en-US" sz="2200" kern="1200" dirty="0">
            <a:latin typeface="Georgia Pro Light" panose="02040302050405020303" pitchFamily="18" charset="0"/>
          </a:endParaRPr>
        </a:p>
      </dsp:txBody>
      <dsp:txXfrm>
        <a:off x="0" y="1450623"/>
        <a:ext cx="10515600" cy="483363"/>
      </dsp:txXfrm>
    </dsp:sp>
    <dsp:sp modelId="{C71BB823-126F-4C36-8E70-3BE0943C143B}">
      <dsp:nvSpPr>
        <dsp:cNvPr id="0" name=""/>
        <dsp:cNvSpPr/>
      </dsp:nvSpPr>
      <dsp:spPr>
        <a:xfrm>
          <a:off x="0" y="1933987"/>
          <a:ext cx="10515600"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6771E8-0497-44B1-96D3-7932B9784361}">
      <dsp:nvSpPr>
        <dsp:cNvPr id="0" name=""/>
        <dsp:cNvSpPr/>
      </dsp:nvSpPr>
      <dsp:spPr>
        <a:xfrm>
          <a:off x="0" y="1933987"/>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latin typeface="Georgia Pro Light" panose="02040302050405020303" pitchFamily="18" charset="0"/>
            </a:rPr>
            <a:t>Built dashboards focused on specific business topics (e.g., revenue, customers, growth)</a:t>
          </a:r>
          <a:endParaRPr lang="en-US" sz="2200" kern="1200" dirty="0">
            <a:latin typeface="Georgia Pro Light" panose="02040302050405020303" pitchFamily="18" charset="0"/>
          </a:endParaRPr>
        </a:p>
      </dsp:txBody>
      <dsp:txXfrm>
        <a:off x="0" y="1933987"/>
        <a:ext cx="10515600" cy="483363"/>
      </dsp:txXfrm>
    </dsp:sp>
    <dsp:sp modelId="{ED587BA8-55EE-4795-A597-082F3CE1C41C}">
      <dsp:nvSpPr>
        <dsp:cNvPr id="0" name=""/>
        <dsp:cNvSpPr/>
      </dsp:nvSpPr>
      <dsp:spPr>
        <a:xfrm>
          <a:off x="0" y="2417350"/>
          <a:ext cx="10515600" cy="0"/>
        </a:xfrm>
        <a:prstGeom prst="line">
          <a:avLst/>
        </a:prstGeom>
        <a:solidFill>
          <a:schemeClr val="accent2">
            <a:hueOff val="4027259"/>
            <a:satOff val="-11558"/>
            <a:lumOff val="-18506"/>
            <a:alphaOff val="0"/>
          </a:schemeClr>
        </a:solidFill>
        <a:ln w="19050" cap="flat" cmpd="sng" algn="ctr">
          <a:solidFill>
            <a:schemeClr val="accent2">
              <a:hueOff val="4027259"/>
              <a:satOff val="-11558"/>
              <a:lumOff val="-185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D574E0-9F70-41E3-8F36-E992CFB83562}">
      <dsp:nvSpPr>
        <dsp:cNvPr id="0" name=""/>
        <dsp:cNvSpPr/>
      </dsp:nvSpPr>
      <dsp:spPr>
        <a:xfrm>
          <a:off x="0" y="2417350"/>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latin typeface="Georgia Pro Light" panose="02040302050405020303" pitchFamily="18" charset="0"/>
            </a:rPr>
            <a:t>Added meaningful visuals and interactive elements:</a:t>
          </a:r>
          <a:endParaRPr lang="en-US" sz="2200" kern="1200" dirty="0">
            <a:latin typeface="Georgia Pro Light" panose="02040302050405020303" pitchFamily="18" charset="0"/>
          </a:endParaRPr>
        </a:p>
      </dsp:txBody>
      <dsp:txXfrm>
        <a:off x="0" y="2417350"/>
        <a:ext cx="10515600" cy="483363"/>
      </dsp:txXfrm>
    </dsp:sp>
    <dsp:sp modelId="{66A454B2-5847-45EA-9E0A-E42CA24DCDDD}">
      <dsp:nvSpPr>
        <dsp:cNvPr id="0" name=""/>
        <dsp:cNvSpPr/>
      </dsp:nvSpPr>
      <dsp:spPr>
        <a:xfrm>
          <a:off x="0" y="2900714"/>
          <a:ext cx="10515600"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74F548-761A-4C54-86BF-70BE01B0D475}">
      <dsp:nvSpPr>
        <dsp:cNvPr id="0" name=""/>
        <dsp:cNvSpPr/>
      </dsp:nvSpPr>
      <dsp:spPr>
        <a:xfrm>
          <a:off x="0" y="2900714"/>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latin typeface="Georgia Pro Light" panose="02040302050405020303" pitchFamily="18" charset="0"/>
            </a:rPr>
            <a:t>Slicers by year, region, and division</a:t>
          </a:r>
          <a:endParaRPr lang="en-US" sz="2200" kern="1200" dirty="0">
            <a:latin typeface="Georgia Pro Light" panose="02040302050405020303" pitchFamily="18" charset="0"/>
          </a:endParaRPr>
        </a:p>
      </dsp:txBody>
      <dsp:txXfrm>
        <a:off x="0" y="2900714"/>
        <a:ext cx="10515600" cy="483363"/>
      </dsp:txXfrm>
    </dsp:sp>
    <dsp:sp modelId="{43B10CC3-1D55-44E0-B931-7A04EAF99D45}">
      <dsp:nvSpPr>
        <dsp:cNvPr id="0" name=""/>
        <dsp:cNvSpPr/>
      </dsp:nvSpPr>
      <dsp:spPr>
        <a:xfrm>
          <a:off x="0" y="3384078"/>
          <a:ext cx="10515600" cy="0"/>
        </a:xfrm>
        <a:prstGeom prst="line">
          <a:avLst/>
        </a:prstGeom>
        <a:solidFill>
          <a:schemeClr val="accent2">
            <a:hueOff val="5638162"/>
            <a:satOff val="-16181"/>
            <a:lumOff val="-25908"/>
            <a:alphaOff val="0"/>
          </a:schemeClr>
        </a:solidFill>
        <a:ln w="19050" cap="flat" cmpd="sng" algn="ctr">
          <a:solidFill>
            <a:schemeClr val="accent2">
              <a:hueOff val="5638162"/>
              <a:satOff val="-16181"/>
              <a:lumOff val="-259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A97FF0-FC50-40FD-88EE-C811279FBB31}">
      <dsp:nvSpPr>
        <dsp:cNvPr id="0" name=""/>
        <dsp:cNvSpPr/>
      </dsp:nvSpPr>
      <dsp:spPr>
        <a:xfrm>
          <a:off x="0" y="3384078"/>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err="1">
              <a:latin typeface="Georgia Pro Light" panose="02040302050405020303" pitchFamily="18" charset="0"/>
            </a:rPr>
            <a:t>Drillthrough</a:t>
          </a:r>
          <a:r>
            <a:rPr lang="en-GB" sz="2200" kern="1200" dirty="0">
              <a:latin typeface="Georgia Pro Light" panose="02040302050405020303" pitchFamily="18" charset="0"/>
            </a:rPr>
            <a:t> and custom tooltips</a:t>
          </a:r>
          <a:endParaRPr lang="en-US" sz="2200" kern="1200" dirty="0">
            <a:latin typeface="Georgia Pro Light" panose="02040302050405020303" pitchFamily="18" charset="0"/>
          </a:endParaRPr>
        </a:p>
      </dsp:txBody>
      <dsp:txXfrm>
        <a:off x="0" y="3384078"/>
        <a:ext cx="10515600" cy="483363"/>
      </dsp:txXfrm>
    </dsp:sp>
    <dsp:sp modelId="{20075939-D119-4261-869D-CA34BB43A8D8}">
      <dsp:nvSpPr>
        <dsp:cNvPr id="0" name=""/>
        <dsp:cNvSpPr/>
      </dsp:nvSpPr>
      <dsp:spPr>
        <a:xfrm>
          <a:off x="0" y="3867442"/>
          <a:ext cx="10515600"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544124-59C3-4258-886E-616A2EAC3488}">
      <dsp:nvSpPr>
        <dsp:cNvPr id="0" name=""/>
        <dsp:cNvSpPr/>
      </dsp:nvSpPr>
      <dsp:spPr>
        <a:xfrm>
          <a:off x="0" y="3867442"/>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latin typeface="Georgia Pro Light" panose="02040302050405020303" pitchFamily="18" charset="0"/>
            </a:rPr>
            <a:t>Dynamic KPIs using DAX time intelligence functions (SAMEPERIODLASTYEAR, etc.)</a:t>
          </a:r>
          <a:endParaRPr lang="en-US" sz="2200" kern="1200" dirty="0">
            <a:latin typeface="Georgia Pro Light" panose="02040302050405020303" pitchFamily="18" charset="0"/>
          </a:endParaRPr>
        </a:p>
      </dsp:txBody>
      <dsp:txXfrm>
        <a:off x="0" y="3867442"/>
        <a:ext cx="10515600" cy="48336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C97381-E6FB-4E2B-9FEF-1035BC4215C5}">
      <dsp:nvSpPr>
        <dsp:cNvPr id="0" name=""/>
        <dsp:cNvSpPr/>
      </dsp:nvSpPr>
      <dsp:spPr>
        <a:xfrm>
          <a:off x="4713943" y="1928718"/>
          <a:ext cx="1053513" cy="91440"/>
        </a:xfrm>
        <a:custGeom>
          <a:avLst/>
          <a:gdLst/>
          <a:ahLst/>
          <a:cxnLst/>
          <a:rect l="0" t="0" r="0" b="0"/>
          <a:pathLst>
            <a:path>
              <a:moveTo>
                <a:pt x="0" y="45720"/>
              </a:moveTo>
              <a:lnTo>
                <a:pt x="105351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13597" y="1969017"/>
        <a:ext cx="54205" cy="10841"/>
      </dsp:txXfrm>
    </dsp:sp>
    <dsp:sp modelId="{33F08128-6AF8-463F-8FA0-53E4D44BB37B}">
      <dsp:nvSpPr>
        <dsp:cNvPr id="0" name=""/>
        <dsp:cNvSpPr/>
      </dsp:nvSpPr>
      <dsp:spPr>
        <a:xfrm>
          <a:off x="2207" y="560377"/>
          <a:ext cx="4713535" cy="282812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967" tIns="242441" rIns="230967" bIns="242441" numCol="1" spcCol="1270" anchor="ctr" anchorCtr="0">
          <a:noAutofit/>
        </a:bodyPr>
        <a:lstStyle/>
        <a:p>
          <a:pPr marL="0" lvl="0" indent="0" algn="ctr" defTabSz="1555750">
            <a:lnSpc>
              <a:spcPct val="90000"/>
            </a:lnSpc>
            <a:spcBef>
              <a:spcPct val="0"/>
            </a:spcBef>
            <a:spcAft>
              <a:spcPct val="35000"/>
            </a:spcAft>
            <a:buNone/>
          </a:pPr>
          <a:r>
            <a:rPr lang="en-GB" sz="3500" b="0" kern="1200" dirty="0">
              <a:latin typeface="Georgia Pro Light" panose="02040302050405020303" pitchFamily="18" charset="0"/>
            </a:rPr>
            <a:t>Developed custom DAX queries to extract insights not directly visible in the tables</a:t>
          </a:r>
          <a:endParaRPr lang="en-US" sz="3500" b="0" kern="1200" dirty="0">
            <a:latin typeface="Georgia Pro Light" panose="02040302050405020303" pitchFamily="18" charset="0"/>
          </a:endParaRPr>
        </a:p>
      </dsp:txBody>
      <dsp:txXfrm>
        <a:off x="2207" y="560377"/>
        <a:ext cx="4713535" cy="2828121"/>
      </dsp:txXfrm>
    </dsp:sp>
    <dsp:sp modelId="{8EC7E6D6-AA43-42AD-A0AE-449CAD20ACFE}">
      <dsp:nvSpPr>
        <dsp:cNvPr id="0" name=""/>
        <dsp:cNvSpPr/>
      </dsp:nvSpPr>
      <dsp:spPr>
        <a:xfrm>
          <a:off x="5799856" y="560377"/>
          <a:ext cx="4713535" cy="282812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967" tIns="242441" rIns="230967" bIns="242441" numCol="1" spcCol="1270" anchor="ctr" anchorCtr="0">
          <a:noAutofit/>
        </a:bodyPr>
        <a:lstStyle/>
        <a:p>
          <a:pPr marL="0" lvl="0" indent="0" algn="ctr" defTabSz="1555750">
            <a:lnSpc>
              <a:spcPct val="90000"/>
            </a:lnSpc>
            <a:spcBef>
              <a:spcPct val="0"/>
            </a:spcBef>
            <a:spcAft>
              <a:spcPct val="35000"/>
            </a:spcAft>
            <a:buNone/>
          </a:pPr>
          <a:r>
            <a:rPr lang="en-GB" sz="3500" b="0" kern="1200" dirty="0">
              <a:latin typeface="Georgia Pro Light" panose="02040302050405020303" pitchFamily="18" charset="0"/>
            </a:rPr>
            <a:t>Used DAX to compare yearly growth, evaluate performance against goals, and filter top customers</a:t>
          </a:r>
          <a:endParaRPr lang="en-US" sz="3500" b="0" kern="1200" dirty="0">
            <a:latin typeface="Georgia Pro Light" panose="02040302050405020303" pitchFamily="18" charset="0"/>
          </a:endParaRPr>
        </a:p>
      </dsp:txBody>
      <dsp:txXfrm>
        <a:off x="5799856" y="560377"/>
        <a:ext cx="4713535" cy="282812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0FC1A-1189-B171-F5C0-7533E13C7FB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LID4096"/>
          </a:p>
        </p:txBody>
      </p:sp>
      <p:sp>
        <p:nvSpPr>
          <p:cNvPr id="3" name="Subtitle 2">
            <a:extLst>
              <a:ext uri="{FF2B5EF4-FFF2-40B4-BE49-F238E27FC236}">
                <a16:creationId xmlns:a16="http://schemas.microsoft.com/office/drawing/2014/main" id="{CBD50325-DD0C-2E5B-993A-5D85B08279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LID4096"/>
          </a:p>
        </p:txBody>
      </p:sp>
      <p:sp>
        <p:nvSpPr>
          <p:cNvPr id="4" name="Date Placeholder 3">
            <a:extLst>
              <a:ext uri="{FF2B5EF4-FFF2-40B4-BE49-F238E27FC236}">
                <a16:creationId xmlns:a16="http://schemas.microsoft.com/office/drawing/2014/main" id="{371EEA5C-F5AB-D542-0CE1-8DE8A7F429EE}"/>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5" name="Footer Placeholder 4">
            <a:extLst>
              <a:ext uri="{FF2B5EF4-FFF2-40B4-BE49-F238E27FC236}">
                <a16:creationId xmlns:a16="http://schemas.microsoft.com/office/drawing/2014/main" id="{96FE3D82-3C60-E8E7-52BE-F36B332FD4E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98103E4E-68F6-46A1-5D97-D231225EEC91}"/>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3085071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C68B3-2789-0AF0-DDB6-4A375C59A314}"/>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483266FA-0EE9-1372-2366-9002F40C815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69C22CC0-FAA0-4C49-1076-784994A89336}"/>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5" name="Footer Placeholder 4">
            <a:extLst>
              <a:ext uri="{FF2B5EF4-FFF2-40B4-BE49-F238E27FC236}">
                <a16:creationId xmlns:a16="http://schemas.microsoft.com/office/drawing/2014/main" id="{E1BAB8FD-A4A2-18F4-DDA6-68136F89348E}"/>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175419B-F815-6CAF-785B-D86C8F8BEEDF}"/>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1650907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2513-394C-370E-B1D7-4B59ED48228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LID4096"/>
          </a:p>
        </p:txBody>
      </p:sp>
      <p:sp>
        <p:nvSpPr>
          <p:cNvPr id="3" name="Text Placeholder 2">
            <a:extLst>
              <a:ext uri="{FF2B5EF4-FFF2-40B4-BE49-F238E27FC236}">
                <a16:creationId xmlns:a16="http://schemas.microsoft.com/office/drawing/2014/main" id="{A7008289-EB18-3AA3-5EE7-E3D93DE296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9B674C-CB1B-CAF3-7A0A-AE595FB5BFE9}"/>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5" name="Footer Placeholder 4">
            <a:extLst>
              <a:ext uri="{FF2B5EF4-FFF2-40B4-BE49-F238E27FC236}">
                <a16:creationId xmlns:a16="http://schemas.microsoft.com/office/drawing/2014/main" id="{6D211FF2-5C7D-F38B-597A-D428E9D9D71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955D50DC-3B5A-FEFA-EED8-33A8E2EB50D9}"/>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4247416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70A2-6F2F-8211-D0B4-007EB227AD92}"/>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41A7317B-D432-7B0B-E5FE-8500D47119B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Content Placeholder 3">
            <a:extLst>
              <a:ext uri="{FF2B5EF4-FFF2-40B4-BE49-F238E27FC236}">
                <a16:creationId xmlns:a16="http://schemas.microsoft.com/office/drawing/2014/main" id="{152587F7-4166-6F88-7FEC-CD551F618E0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Date Placeholder 4">
            <a:extLst>
              <a:ext uri="{FF2B5EF4-FFF2-40B4-BE49-F238E27FC236}">
                <a16:creationId xmlns:a16="http://schemas.microsoft.com/office/drawing/2014/main" id="{EA5A034B-27D7-FCBC-6E48-89ACD37A9AD5}"/>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6" name="Footer Placeholder 5">
            <a:extLst>
              <a:ext uri="{FF2B5EF4-FFF2-40B4-BE49-F238E27FC236}">
                <a16:creationId xmlns:a16="http://schemas.microsoft.com/office/drawing/2014/main" id="{1923764E-E025-1C59-C7F0-24B8A295710B}"/>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C368B087-5CC2-6068-E564-A7D106DD48B8}"/>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3152038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5D63D-D3CD-36E4-8803-78EBF67669C9}"/>
              </a:ext>
            </a:extLst>
          </p:cNvPr>
          <p:cNvSpPr>
            <a:spLocks noGrp="1"/>
          </p:cNvSpPr>
          <p:nvPr>
            <p:ph type="title"/>
          </p:nvPr>
        </p:nvSpPr>
        <p:spPr>
          <a:xfrm>
            <a:off x="839788" y="365125"/>
            <a:ext cx="10515600" cy="1325563"/>
          </a:xfrm>
        </p:spPr>
        <p:txBody>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E79BB030-93A2-12BB-48AB-BA3BA5E523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F991CB0-4FCC-1627-6CCE-670EFB8502F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Text Placeholder 4">
            <a:extLst>
              <a:ext uri="{FF2B5EF4-FFF2-40B4-BE49-F238E27FC236}">
                <a16:creationId xmlns:a16="http://schemas.microsoft.com/office/drawing/2014/main" id="{91C1C84A-288D-D33F-C08B-1761814229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660B2F9-BA58-99BF-69FF-B065822B938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7" name="Date Placeholder 6">
            <a:extLst>
              <a:ext uri="{FF2B5EF4-FFF2-40B4-BE49-F238E27FC236}">
                <a16:creationId xmlns:a16="http://schemas.microsoft.com/office/drawing/2014/main" id="{0FA41D26-F6E2-8700-ED90-242BCE95B4AE}"/>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8" name="Footer Placeholder 7">
            <a:extLst>
              <a:ext uri="{FF2B5EF4-FFF2-40B4-BE49-F238E27FC236}">
                <a16:creationId xmlns:a16="http://schemas.microsoft.com/office/drawing/2014/main" id="{5E3D48A7-E05F-D5A5-6FE6-CE23851A2640}"/>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87483F39-B74E-4B0C-C845-292C5CD85DBA}"/>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777479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4A87-0794-E148-0F98-880F852FBF90}"/>
              </a:ext>
            </a:extLst>
          </p:cNvPr>
          <p:cNvSpPr>
            <a:spLocks noGrp="1"/>
          </p:cNvSpPr>
          <p:nvPr>
            <p:ph type="title"/>
          </p:nvPr>
        </p:nvSpPr>
        <p:spPr/>
        <p:txBody>
          <a:bodyPr/>
          <a:lstStyle/>
          <a:p>
            <a:r>
              <a:rPr lang="en-GB"/>
              <a:t>Click to edit Master title style</a:t>
            </a:r>
            <a:endParaRPr lang="LID4096"/>
          </a:p>
        </p:txBody>
      </p:sp>
      <p:sp>
        <p:nvSpPr>
          <p:cNvPr id="3" name="Date Placeholder 2">
            <a:extLst>
              <a:ext uri="{FF2B5EF4-FFF2-40B4-BE49-F238E27FC236}">
                <a16:creationId xmlns:a16="http://schemas.microsoft.com/office/drawing/2014/main" id="{7559B62A-9648-3711-C407-9015F94A3581}"/>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4" name="Footer Placeholder 3">
            <a:extLst>
              <a:ext uri="{FF2B5EF4-FFF2-40B4-BE49-F238E27FC236}">
                <a16:creationId xmlns:a16="http://schemas.microsoft.com/office/drawing/2014/main" id="{272B97D8-7518-0426-8CF8-C7566ABB18B6}"/>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D6E68D68-4AB6-BBEA-2A9C-EDD577D99BEB}"/>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1474045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C50942-8400-4263-8EF2-516B9CD5677A}"/>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3" name="Footer Placeholder 2">
            <a:extLst>
              <a:ext uri="{FF2B5EF4-FFF2-40B4-BE49-F238E27FC236}">
                <a16:creationId xmlns:a16="http://schemas.microsoft.com/office/drawing/2014/main" id="{42FB8883-3682-D8FA-2EF5-7422F5D1F45E}"/>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9CB83E24-2B52-B93A-6363-2529A6F06E92}"/>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2200005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E715-A4A5-DD4F-7D79-08DCF00350C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Content Placeholder 2">
            <a:extLst>
              <a:ext uri="{FF2B5EF4-FFF2-40B4-BE49-F238E27FC236}">
                <a16:creationId xmlns:a16="http://schemas.microsoft.com/office/drawing/2014/main" id="{6002E09B-4F45-CAED-B1C5-D88B6C38EB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Text Placeholder 3">
            <a:extLst>
              <a:ext uri="{FF2B5EF4-FFF2-40B4-BE49-F238E27FC236}">
                <a16:creationId xmlns:a16="http://schemas.microsoft.com/office/drawing/2014/main" id="{AEC36E2D-94A2-219B-9FE3-D1A61A698C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54DB478-6C9A-0224-7800-B8884FCC190D}"/>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6" name="Footer Placeholder 5">
            <a:extLst>
              <a:ext uri="{FF2B5EF4-FFF2-40B4-BE49-F238E27FC236}">
                <a16:creationId xmlns:a16="http://schemas.microsoft.com/office/drawing/2014/main" id="{502B7F7F-4E3D-E8E9-D6D9-CF8E43A79E53}"/>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1A257823-4665-FF3A-AA16-6FED0743D987}"/>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1340465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40C8-6506-CB3C-2E12-BC91BD0B90D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Picture Placeholder 2">
            <a:extLst>
              <a:ext uri="{FF2B5EF4-FFF2-40B4-BE49-F238E27FC236}">
                <a16:creationId xmlns:a16="http://schemas.microsoft.com/office/drawing/2014/main" id="{932B99CB-6030-9EDB-C3A5-7B64B1F44D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C3F56A57-340C-0093-51DC-4EF4A33EFF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5B30545-F731-D773-A844-37C500D6E902}"/>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6" name="Footer Placeholder 5">
            <a:extLst>
              <a:ext uri="{FF2B5EF4-FFF2-40B4-BE49-F238E27FC236}">
                <a16:creationId xmlns:a16="http://schemas.microsoft.com/office/drawing/2014/main" id="{8FC3E039-6102-A525-647D-9EBB05AC8ACE}"/>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0CC83CF4-4FB2-2FBB-77DA-8ABE05D5BB9C}"/>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331582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4AAFA-ACFB-6865-4FA9-9C1D65A56958}"/>
              </a:ext>
            </a:extLst>
          </p:cNvPr>
          <p:cNvSpPr>
            <a:spLocks noGrp="1"/>
          </p:cNvSpPr>
          <p:nvPr>
            <p:ph type="title"/>
          </p:nvPr>
        </p:nvSpPr>
        <p:spPr/>
        <p:txBody>
          <a:bodyPr/>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F9CA9D11-2D86-2661-77F7-52C9993519C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ACB42A16-7156-AAE8-8396-F10F600FAA4A}"/>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5" name="Footer Placeholder 4">
            <a:extLst>
              <a:ext uri="{FF2B5EF4-FFF2-40B4-BE49-F238E27FC236}">
                <a16:creationId xmlns:a16="http://schemas.microsoft.com/office/drawing/2014/main" id="{D6A04826-C0C4-FE5A-CAAB-0F388D79B887}"/>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345ADE0B-B089-403A-6D57-8AED78904E74}"/>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4262466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D34A66-20ED-E92C-4F57-EA45CC2E92C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6A6F60C7-7F9D-6789-6A83-C6E09E5CAAF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465E3A2B-6C02-EECC-5487-DA4EF57BF5ED}"/>
              </a:ext>
            </a:extLst>
          </p:cNvPr>
          <p:cNvSpPr>
            <a:spLocks noGrp="1"/>
          </p:cNvSpPr>
          <p:nvPr>
            <p:ph type="dt" sz="half" idx="10"/>
          </p:nvPr>
        </p:nvSpPr>
        <p:spPr/>
        <p:txBody>
          <a:bodyPr/>
          <a:lstStyle/>
          <a:p>
            <a:fld id="{26B8D0D6-3E89-4372-8B70-2125F63B3E5F}" type="datetimeFigureOut">
              <a:rPr lang="LID4096" smtClean="0"/>
              <a:t>08/06/2025</a:t>
            </a:fld>
            <a:endParaRPr lang="LID4096"/>
          </a:p>
        </p:txBody>
      </p:sp>
      <p:sp>
        <p:nvSpPr>
          <p:cNvPr id="5" name="Footer Placeholder 4">
            <a:extLst>
              <a:ext uri="{FF2B5EF4-FFF2-40B4-BE49-F238E27FC236}">
                <a16:creationId xmlns:a16="http://schemas.microsoft.com/office/drawing/2014/main" id="{F382FC2C-6911-7F77-4F64-CF50B9437F3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870ECFD-12F5-A4E1-B541-E84C30FD9C44}"/>
              </a:ext>
            </a:extLst>
          </p:cNvPr>
          <p:cNvSpPr>
            <a:spLocks noGrp="1"/>
          </p:cNvSpPr>
          <p:nvPr>
            <p:ph type="sldNum" sz="quarter" idx="12"/>
          </p:nvPr>
        </p:nvSpPr>
        <p:spPr/>
        <p:txBody>
          <a:bodyPr/>
          <a:lstStyle/>
          <a:p>
            <a:fld id="{217BAE89-ADE1-4259-AD7C-1A0587876429}" type="slidenum">
              <a:rPr lang="LID4096" smtClean="0"/>
              <a:t>‹#›</a:t>
            </a:fld>
            <a:endParaRPr lang="LID4096"/>
          </a:p>
        </p:txBody>
      </p:sp>
    </p:spTree>
    <p:extLst>
      <p:ext uri="{BB962C8B-B14F-4D97-AF65-F5344CB8AC3E}">
        <p14:creationId xmlns:p14="http://schemas.microsoft.com/office/powerpoint/2010/main" val="2013711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45FFF6-2F63-DACE-C235-370E2E1296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CF0F3A94-19DD-7A47-056B-8E70D89E78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DB5EE519-1431-8931-283D-771B40EA88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B8D0D6-3E89-4372-8B70-2125F63B3E5F}" type="datetimeFigureOut">
              <a:rPr lang="LID4096" smtClean="0"/>
              <a:t>08/06/2025</a:t>
            </a:fld>
            <a:endParaRPr lang="LID4096"/>
          </a:p>
        </p:txBody>
      </p:sp>
      <p:sp>
        <p:nvSpPr>
          <p:cNvPr id="5" name="Footer Placeholder 4">
            <a:extLst>
              <a:ext uri="{FF2B5EF4-FFF2-40B4-BE49-F238E27FC236}">
                <a16:creationId xmlns:a16="http://schemas.microsoft.com/office/drawing/2014/main" id="{0DB10A47-8D24-9398-E46B-470963FD9A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DD642F4D-467B-6CAE-E2D4-3AE283482D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7BAE89-ADE1-4259-AD7C-1A0587876429}" type="slidenum">
              <a:rPr lang="LID4096" smtClean="0"/>
              <a:t>‹#›</a:t>
            </a:fld>
            <a:endParaRPr lang="LID4096"/>
          </a:p>
        </p:txBody>
      </p:sp>
    </p:spTree>
    <p:extLst>
      <p:ext uri="{BB962C8B-B14F-4D97-AF65-F5344CB8AC3E}">
        <p14:creationId xmlns:p14="http://schemas.microsoft.com/office/powerpoint/2010/main" val="594038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AD4807-B2CE-98A4-711F-D1048CF070E4}"/>
              </a:ext>
            </a:extLst>
          </p:cNvPr>
          <p:cNvSpPr>
            <a:spLocks noGrp="1"/>
          </p:cNvSpPr>
          <p:nvPr>
            <p:ph type="ctrTitle"/>
          </p:nvPr>
        </p:nvSpPr>
        <p:spPr>
          <a:xfrm>
            <a:off x="6499664" y="1702433"/>
            <a:ext cx="5334930" cy="1394331"/>
          </a:xfrm>
        </p:spPr>
        <p:txBody>
          <a:bodyPr>
            <a:normAutofit/>
          </a:bodyPr>
          <a:lstStyle/>
          <a:p>
            <a:r>
              <a:rPr lang="en-US" sz="3600" dirty="0"/>
              <a:t>Data Modeling</a:t>
            </a:r>
            <a:br>
              <a:rPr lang="en-US" sz="3600" dirty="0"/>
            </a:br>
            <a:endParaRPr lang="LID4096" sz="3600" dirty="0"/>
          </a:p>
        </p:txBody>
      </p:sp>
      <p:sp>
        <p:nvSpPr>
          <p:cNvPr id="3" name="Subtitle 2">
            <a:extLst>
              <a:ext uri="{FF2B5EF4-FFF2-40B4-BE49-F238E27FC236}">
                <a16:creationId xmlns:a16="http://schemas.microsoft.com/office/drawing/2014/main" id="{99CB599C-1606-4AFE-0179-04A50750DC3A}"/>
              </a:ext>
            </a:extLst>
          </p:cNvPr>
          <p:cNvSpPr>
            <a:spLocks noGrp="1"/>
          </p:cNvSpPr>
          <p:nvPr>
            <p:ph type="subTitle" idx="1"/>
          </p:nvPr>
        </p:nvSpPr>
        <p:spPr>
          <a:xfrm>
            <a:off x="7088331" y="5038804"/>
            <a:ext cx="4157599" cy="1519574"/>
          </a:xfrm>
        </p:spPr>
        <p:txBody>
          <a:bodyPr>
            <a:normAutofit/>
          </a:bodyPr>
          <a:lstStyle/>
          <a:p>
            <a:r>
              <a:rPr lang="en-US" sz="1800" dirty="0">
                <a:latin typeface="Georgia Pro Light" panose="02040302050405020303" pitchFamily="18" charset="0"/>
              </a:rPr>
              <a:t>Hernan Aronson</a:t>
            </a:r>
          </a:p>
          <a:p>
            <a:r>
              <a:rPr lang="en-US" sz="1800" dirty="0">
                <a:latin typeface="Georgia Pro Light" panose="02040302050405020303" pitchFamily="18" charset="0"/>
              </a:rPr>
              <a:t>Tali Oberlander</a:t>
            </a:r>
          </a:p>
          <a:p>
            <a:r>
              <a:rPr lang="en-US" sz="1800" dirty="0">
                <a:latin typeface="Georgia Pro Light" panose="02040302050405020303" pitchFamily="18" charset="0"/>
              </a:rPr>
              <a:t>05.08.2025</a:t>
            </a:r>
            <a:endParaRPr lang="LID4096" sz="1800" dirty="0">
              <a:latin typeface="Georgia Pro Light" panose="02040302050405020303" pitchFamily="18" charset="0"/>
            </a:endParaRPr>
          </a:p>
        </p:txBody>
      </p:sp>
      <p:sp>
        <p:nvSpPr>
          <p:cNvPr id="11" name="Freeform: Shape 10">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4" name="Picture 3" descr="Generated image">
            <a:extLst>
              <a:ext uri="{FF2B5EF4-FFF2-40B4-BE49-F238E27FC236}">
                <a16:creationId xmlns:a16="http://schemas.microsoft.com/office/drawing/2014/main" id="{93829A41-179D-46D9-B179-95474158A69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794970" y="842707"/>
            <a:ext cx="4604774" cy="4604774"/>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extLst>
            <a:ext uri="{909E8E84-426E-40DD-AFC4-6F175D3DCCD1}">
              <a14:hiddenFill xmlns:a14="http://schemas.microsoft.com/office/drawing/2010/main">
                <a:solidFill>
                  <a:srgbClr val="FFFFFF"/>
                </a:solidFill>
              </a14:hiddenFill>
            </a:ext>
          </a:extLst>
        </p:spPr>
      </p:pic>
      <p:sp>
        <p:nvSpPr>
          <p:cNvPr id="21" name="Freeform: Shape 20">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ubtitle 2">
            <a:extLst>
              <a:ext uri="{FF2B5EF4-FFF2-40B4-BE49-F238E27FC236}">
                <a16:creationId xmlns:a16="http://schemas.microsoft.com/office/drawing/2014/main" id="{E2F6FAA4-E7C6-C1FA-14DF-71CC90FF008F}"/>
              </a:ext>
            </a:extLst>
          </p:cNvPr>
          <p:cNvSpPr txBox="1">
            <a:spLocks/>
          </p:cNvSpPr>
          <p:nvPr/>
        </p:nvSpPr>
        <p:spPr>
          <a:xfrm>
            <a:off x="7088330" y="3096764"/>
            <a:ext cx="4157599" cy="412948"/>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t>Power BI &amp; Power Pivot\Query\View &amp; Dax </a:t>
            </a:r>
            <a:endParaRPr lang="LID4096" sz="1800" dirty="0"/>
          </a:p>
        </p:txBody>
      </p:sp>
    </p:spTree>
    <p:extLst>
      <p:ext uri="{BB962C8B-B14F-4D97-AF65-F5344CB8AC3E}">
        <p14:creationId xmlns:p14="http://schemas.microsoft.com/office/powerpoint/2010/main" val="1714336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Freeform: Shape 33">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6" name="Freeform: Shape 35">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BF29074-3548-6F12-1F7D-5DBA6B828954}"/>
              </a:ext>
            </a:extLst>
          </p:cNvPr>
          <p:cNvSpPr>
            <a:spLocks noGrp="1"/>
          </p:cNvSpPr>
          <p:nvPr>
            <p:ph type="title"/>
          </p:nvPr>
        </p:nvSpPr>
        <p:spPr>
          <a:xfrm>
            <a:off x="621792" y="1161288"/>
            <a:ext cx="3602736" cy="4526280"/>
          </a:xfrm>
        </p:spPr>
        <p:txBody>
          <a:bodyPr>
            <a:normAutofit/>
          </a:bodyPr>
          <a:lstStyle/>
          <a:p>
            <a:r>
              <a:rPr lang="en-US" sz="4000" dirty="0"/>
              <a:t>Project </a:t>
            </a:r>
            <a:r>
              <a:rPr lang="en-US" dirty="0"/>
              <a:t>Objective</a:t>
            </a:r>
            <a:endParaRPr lang="LID4096" sz="4000" dirty="0"/>
          </a:p>
        </p:txBody>
      </p:sp>
      <p:sp>
        <p:nvSpPr>
          <p:cNvPr id="38" name="Rectangle 37">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descr="Generated image">
            <a:extLst>
              <a:ext uri="{FF2B5EF4-FFF2-40B4-BE49-F238E27FC236}">
                <a16:creationId xmlns:a16="http://schemas.microsoft.com/office/drawing/2014/main" id="{8D225FAB-6832-C6FA-8CEE-9C019E5BDDE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75656" y="5996646"/>
            <a:ext cx="762544" cy="762544"/>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extLst>
            <a:ext uri="{909E8E84-426E-40DD-AFC4-6F175D3DCCD1}">
              <a14:hiddenFill xmlns:a14="http://schemas.microsoft.com/office/drawing/2010/main">
                <a:solidFill>
                  <a:srgbClr val="FFFFFF"/>
                </a:solidFill>
              </a14:hiddenFill>
            </a:ext>
          </a:extLst>
        </p:spPr>
      </p:pic>
      <p:graphicFrame>
        <p:nvGraphicFramePr>
          <p:cNvPr id="40" name="Content Placeholder 2">
            <a:extLst>
              <a:ext uri="{FF2B5EF4-FFF2-40B4-BE49-F238E27FC236}">
                <a16:creationId xmlns:a16="http://schemas.microsoft.com/office/drawing/2014/main" id="{D7D32005-42A8-008D-49F3-714E1D0A6F45}"/>
              </a:ext>
            </a:extLst>
          </p:cNvPr>
          <p:cNvGraphicFramePr>
            <a:graphicFrameLocks noGrp="1"/>
          </p:cNvGraphicFramePr>
          <p:nvPr>
            <p:ph idx="1"/>
            <p:extLst>
              <p:ext uri="{D42A27DB-BD31-4B8C-83A1-F6EECF244321}">
                <p14:modId xmlns:p14="http://schemas.microsoft.com/office/powerpoint/2010/main" val="1525536774"/>
              </p:ext>
            </p:extLst>
          </p:nvPr>
        </p:nvGraphicFramePr>
        <p:xfrm>
          <a:off x="5205984" y="667512"/>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9201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91F334A3-1BB3-F670-D21B-FD11CF0C5143}"/>
              </a:ext>
            </a:extLst>
          </p:cNvPr>
          <p:cNvGraphicFramePr>
            <a:graphicFrameLocks noGrp="1"/>
          </p:cNvGraphicFramePr>
          <p:nvPr>
            <p:ph idx="1"/>
            <p:extLst>
              <p:ext uri="{D42A27DB-BD31-4B8C-83A1-F6EECF244321}">
                <p14:modId xmlns:p14="http://schemas.microsoft.com/office/powerpoint/2010/main" val="3442681206"/>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4A89FFD7-F062-C18B-FBAB-0F822E3930CC}"/>
              </a:ext>
            </a:extLst>
          </p:cNvPr>
          <p:cNvSpPr txBox="1"/>
          <p:nvPr/>
        </p:nvSpPr>
        <p:spPr>
          <a:xfrm>
            <a:off x="927839" y="675983"/>
            <a:ext cx="6256732" cy="769441"/>
          </a:xfrm>
          <a:prstGeom prst="rect">
            <a:avLst/>
          </a:prstGeom>
          <a:noFill/>
        </p:spPr>
        <p:txBody>
          <a:bodyPr wrap="square" rtlCol="0">
            <a:spAutoFit/>
          </a:bodyPr>
          <a:lstStyle/>
          <a:p>
            <a:r>
              <a:rPr lang="en-US" sz="4400" dirty="0">
                <a:solidFill>
                  <a:schemeClr val="bg1"/>
                </a:solidFill>
                <a:latin typeface="+mj-lt"/>
              </a:rPr>
              <a:t>Data modeling Workflow</a:t>
            </a:r>
            <a:endParaRPr lang="LID4096" sz="4400" dirty="0">
              <a:solidFill>
                <a:schemeClr val="bg1"/>
              </a:solidFill>
              <a:latin typeface="+mj-lt"/>
            </a:endParaRPr>
          </a:p>
        </p:txBody>
      </p:sp>
      <p:cxnSp>
        <p:nvCxnSpPr>
          <p:cNvPr id="7" name="Straight Connector 6">
            <a:extLst>
              <a:ext uri="{FF2B5EF4-FFF2-40B4-BE49-F238E27FC236}">
                <a16:creationId xmlns:a16="http://schemas.microsoft.com/office/drawing/2014/main" id="{B6E72C77-B669-E08B-8540-321085FD1F8A}"/>
              </a:ext>
            </a:extLst>
          </p:cNvPr>
          <p:cNvCxnSpPr>
            <a:cxnSpLocks/>
          </p:cNvCxnSpPr>
          <p:nvPr/>
        </p:nvCxnSpPr>
        <p:spPr>
          <a:xfrm>
            <a:off x="751114" y="653143"/>
            <a:ext cx="0" cy="730726"/>
          </a:xfrm>
          <a:prstGeom prst="line">
            <a:avLst/>
          </a:prstGeom>
          <a:ln w="85725">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359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D0614502-446A-D4BC-342A-6A3C09E0D69E}"/>
              </a:ext>
            </a:extLst>
          </p:cNvPr>
          <p:cNvPicPr>
            <a:picLocks noChangeAspect="1"/>
          </p:cNvPicPr>
          <p:nvPr/>
        </p:nvPicPr>
        <p:blipFill>
          <a:blip r:embed="rId2"/>
          <a:srcRect t="16326" r="9091" b="5900"/>
          <a:stretch>
            <a:fillRect/>
          </a:stretch>
        </p:blipFill>
        <p:spPr>
          <a:xfrm>
            <a:off x="20" y="10"/>
            <a:ext cx="12191980" cy="6857990"/>
          </a:xfrm>
          <a:prstGeom prst="rect">
            <a:avLst/>
          </a:prstGeom>
        </p:spPr>
      </p:pic>
      <p:sp>
        <p:nvSpPr>
          <p:cNvPr id="46" name="Rectangle 45">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7693045-65DC-2928-3FC9-331F48BE7399}"/>
              </a:ext>
            </a:extLst>
          </p:cNvPr>
          <p:cNvSpPr>
            <a:spLocks noGrp="1"/>
          </p:cNvSpPr>
          <p:nvPr>
            <p:ph type="title"/>
          </p:nvPr>
        </p:nvSpPr>
        <p:spPr>
          <a:xfrm>
            <a:off x="838200" y="365125"/>
            <a:ext cx="10515600" cy="1325563"/>
          </a:xfrm>
        </p:spPr>
        <p:txBody>
          <a:bodyPr>
            <a:normAutofit/>
          </a:bodyPr>
          <a:lstStyle/>
          <a:p>
            <a:r>
              <a:rPr lang="en-US" dirty="0">
                <a:solidFill>
                  <a:srgbClr val="163E64"/>
                </a:solidFill>
              </a:rPr>
              <a:t>Data preparation</a:t>
            </a:r>
            <a:endParaRPr lang="LID4096" dirty="0">
              <a:solidFill>
                <a:srgbClr val="163E64"/>
              </a:solidFill>
            </a:endParaRPr>
          </a:p>
        </p:txBody>
      </p:sp>
      <p:graphicFrame>
        <p:nvGraphicFramePr>
          <p:cNvPr id="5" name="Content Placeholder 2">
            <a:extLst>
              <a:ext uri="{FF2B5EF4-FFF2-40B4-BE49-F238E27FC236}">
                <a16:creationId xmlns:a16="http://schemas.microsoft.com/office/drawing/2014/main" id="{67560F95-AD23-5987-D248-DEDB53A61F5F}"/>
              </a:ext>
            </a:extLst>
          </p:cNvPr>
          <p:cNvGraphicFramePr>
            <a:graphicFrameLocks noGrp="1"/>
          </p:cNvGraphicFramePr>
          <p:nvPr>
            <p:ph idx="1"/>
            <p:extLst>
              <p:ext uri="{D42A27DB-BD31-4B8C-83A1-F6EECF244321}">
                <p14:modId xmlns:p14="http://schemas.microsoft.com/office/powerpoint/2010/main" val="18214388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055590A0-6C11-5E95-F407-EC2E8A51DEA9}"/>
              </a:ext>
            </a:extLst>
          </p:cNvPr>
          <p:cNvCxnSpPr>
            <a:cxnSpLocks/>
          </p:cNvCxnSpPr>
          <p:nvPr/>
        </p:nvCxnSpPr>
        <p:spPr>
          <a:xfrm>
            <a:off x="751114" y="653143"/>
            <a:ext cx="0" cy="730726"/>
          </a:xfrm>
          <a:prstGeom prst="line">
            <a:avLst/>
          </a:prstGeom>
          <a:ln w="85725">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0001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97C243C-ED4C-4678-4E47-63C6F993C7E9}"/>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kern="1200" dirty="0">
                <a:solidFill>
                  <a:srgbClr val="163E64"/>
                </a:solidFill>
                <a:latin typeface="+mj-lt"/>
                <a:ea typeface="+mj-ea"/>
                <a:cs typeface="+mj-cs"/>
              </a:rPr>
              <a:t>Data modeling</a:t>
            </a:r>
          </a:p>
        </p:txBody>
      </p:sp>
      <p:sp>
        <p:nvSpPr>
          <p:cNvPr id="19"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7">
            <a:extLst>
              <a:ext uri="{FF2B5EF4-FFF2-40B4-BE49-F238E27FC236}">
                <a16:creationId xmlns:a16="http://schemas.microsoft.com/office/drawing/2014/main" id="{63EC5656-D91A-27D3-4A14-B4440FB0FF61}"/>
              </a:ext>
            </a:extLst>
          </p:cNvPr>
          <p:cNvGraphicFramePr>
            <a:graphicFrameLocks noGrp="1"/>
          </p:cNvGraphicFramePr>
          <p:nvPr>
            <p:ph idx="1"/>
            <p:extLst>
              <p:ext uri="{D42A27DB-BD31-4B8C-83A1-F6EECF244321}">
                <p14:modId xmlns:p14="http://schemas.microsoft.com/office/powerpoint/2010/main" val="253071642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Connector 4">
            <a:extLst>
              <a:ext uri="{FF2B5EF4-FFF2-40B4-BE49-F238E27FC236}">
                <a16:creationId xmlns:a16="http://schemas.microsoft.com/office/drawing/2014/main" id="{4EB33F1E-3463-4914-E526-EE5E53B1602D}"/>
              </a:ext>
            </a:extLst>
          </p:cNvPr>
          <p:cNvCxnSpPr>
            <a:cxnSpLocks/>
          </p:cNvCxnSpPr>
          <p:nvPr/>
        </p:nvCxnSpPr>
        <p:spPr>
          <a:xfrm>
            <a:off x="751114" y="653143"/>
            <a:ext cx="0" cy="730726"/>
          </a:xfrm>
          <a:prstGeom prst="line">
            <a:avLst/>
          </a:prstGeom>
          <a:ln w="85725">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2215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4CB7BDE-949D-B877-78D4-0D3BC6273B71}"/>
              </a:ext>
            </a:extLst>
          </p:cNvPr>
          <p:cNvPicPr>
            <a:picLocks noChangeAspect="1"/>
          </p:cNvPicPr>
          <p:nvPr/>
        </p:nvPicPr>
        <p:blipFill>
          <a:blip r:embed="rId2">
            <a:duotone>
              <a:schemeClr val="bg2">
                <a:shade val="45000"/>
                <a:satMod val="135000"/>
              </a:schemeClr>
              <a:prstClr val="white"/>
            </a:duotone>
          </a:blip>
          <a:srcRect t="12420" b="3310"/>
          <a:stretch>
            <a:fillRect/>
          </a:stretch>
        </p:blipFill>
        <p:spPr>
          <a:xfrm>
            <a:off x="20" y="10"/>
            <a:ext cx="12191980" cy="6857990"/>
          </a:xfrm>
          <a:prstGeom prst="rect">
            <a:avLst/>
          </a:prstGeom>
        </p:spPr>
      </p:pic>
      <p:sp>
        <p:nvSpPr>
          <p:cNvPr id="24" name="Rectangle 23">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9BB767-566A-7B59-B319-0E452BC48DD5}"/>
              </a:ext>
            </a:extLst>
          </p:cNvPr>
          <p:cNvSpPr>
            <a:spLocks noGrp="1"/>
          </p:cNvSpPr>
          <p:nvPr>
            <p:ph type="title"/>
          </p:nvPr>
        </p:nvSpPr>
        <p:spPr>
          <a:xfrm>
            <a:off x="838200" y="365125"/>
            <a:ext cx="10515600" cy="1325563"/>
          </a:xfrm>
        </p:spPr>
        <p:txBody>
          <a:bodyPr>
            <a:normAutofit/>
          </a:bodyPr>
          <a:lstStyle/>
          <a:p>
            <a:r>
              <a:rPr lang="en-GB" dirty="0"/>
              <a:t> </a:t>
            </a:r>
            <a:r>
              <a:rPr lang="en-GB" dirty="0">
                <a:solidFill>
                  <a:srgbClr val="163E64"/>
                </a:solidFill>
              </a:rPr>
              <a:t>Power BI Report Building</a:t>
            </a:r>
            <a:br>
              <a:rPr lang="en-GB" dirty="0"/>
            </a:br>
            <a:endParaRPr lang="LID4096" dirty="0"/>
          </a:p>
        </p:txBody>
      </p:sp>
      <p:graphicFrame>
        <p:nvGraphicFramePr>
          <p:cNvPr id="15" name="Content Placeholder 4">
            <a:extLst>
              <a:ext uri="{FF2B5EF4-FFF2-40B4-BE49-F238E27FC236}">
                <a16:creationId xmlns:a16="http://schemas.microsoft.com/office/drawing/2014/main" id="{DEB42F71-E626-F9F6-34BD-16E848C3185E}"/>
              </a:ext>
            </a:extLst>
          </p:cNvPr>
          <p:cNvGraphicFramePr>
            <a:graphicFrameLocks noGrp="1"/>
          </p:cNvGraphicFramePr>
          <p:nvPr>
            <p:ph idx="1"/>
            <p:extLst>
              <p:ext uri="{D42A27DB-BD31-4B8C-83A1-F6EECF244321}">
                <p14:modId xmlns:p14="http://schemas.microsoft.com/office/powerpoint/2010/main" val="162870039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a:extLst>
              <a:ext uri="{FF2B5EF4-FFF2-40B4-BE49-F238E27FC236}">
                <a16:creationId xmlns:a16="http://schemas.microsoft.com/office/drawing/2014/main" id="{C5731E2A-CBE0-CE7A-0100-6B4EC5EA91B1}"/>
              </a:ext>
            </a:extLst>
          </p:cNvPr>
          <p:cNvCxnSpPr>
            <a:cxnSpLocks/>
          </p:cNvCxnSpPr>
          <p:nvPr/>
        </p:nvCxnSpPr>
        <p:spPr>
          <a:xfrm>
            <a:off x="751114" y="365125"/>
            <a:ext cx="0" cy="730726"/>
          </a:xfrm>
          <a:prstGeom prst="line">
            <a:avLst/>
          </a:prstGeom>
          <a:ln w="85725">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6386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F60E8C-2235-3BF4-F0AE-7CF2D4B2B8BA}"/>
              </a:ext>
            </a:extLst>
          </p:cNvPr>
          <p:cNvSpPr>
            <a:spLocks noGrp="1"/>
          </p:cNvSpPr>
          <p:nvPr>
            <p:ph type="title"/>
          </p:nvPr>
        </p:nvSpPr>
        <p:spPr>
          <a:xfrm>
            <a:off x="1083526" y="1022825"/>
            <a:ext cx="10515600" cy="800863"/>
          </a:xfrm>
        </p:spPr>
        <p:txBody>
          <a:bodyPr>
            <a:normAutofit fontScale="90000"/>
          </a:bodyPr>
          <a:lstStyle/>
          <a:p>
            <a:r>
              <a:rPr lang="en-GB" dirty="0">
                <a:solidFill>
                  <a:srgbClr val="163E64"/>
                </a:solidFill>
              </a:rPr>
              <a:t>A</a:t>
            </a:r>
            <a:r>
              <a:rPr lang="en-GB" dirty="0">
                <a:solidFill>
                  <a:srgbClr val="002060"/>
                </a:solidFill>
              </a:rPr>
              <a:t>dvanced DAX Analysis</a:t>
            </a:r>
            <a:br>
              <a:rPr lang="en-GB" sz="4200" b="1" dirty="0"/>
            </a:br>
            <a:endParaRPr lang="LID4096" sz="4200" dirty="0"/>
          </a:p>
        </p:txBody>
      </p:sp>
      <p:sp>
        <p:nvSpPr>
          <p:cNvPr id="20"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F17B18A-879B-32B6-3A69-BD7DD50B4535}"/>
              </a:ext>
            </a:extLst>
          </p:cNvPr>
          <p:cNvGraphicFramePr>
            <a:graphicFrameLocks noGrp="1"/>
          </p:cNvGraphicFramePr>
          <p:nvPr>
            <p:ph idx="1"/>
            <p:extLst>
              <p:ext uri="{D42A27DB-BD31-4B8C-83A1-F6EECF244321}">
                <p14:modId xmlns:p14="http://schemas.microsoft.com/office/powerpoint/2010/main" val="2935436547"/>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4" name="Straight Connector 3">
            <a:extLst>
              <a:ext uri="{FF2B5EF4-FFF2-40B4-BE49-F238E27FC236}">
                <a16:creationId xmlns:a16="http://schemas.microsoft.com/office/drawing/2014/main" id="{766535AF-23D4-3517-96C7-BA2D7B227E51}"/>
              </a:ext>
            </a:extLst>
          </p:cNvPr>
          <p:cNvCxnSpPr>
            <a:cxnSpLocks/>
          </p:cNvCxnSpPr>
          <p:nvPr/>
        </p:nvCxnSpPr>
        <p:spPr>
          <a:xfrm>
            <a:off x="838200" y="786958"/>
            <a:ext cx="0" cy="730726"/>
          </a:xfrm>
          <a:prstGeom prst="line">
            <a:avLst/>
          </a:prstGeom>
          <a:ln w="85725">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4122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9AC80B-ADED-D2BE-907A-CF7C36EA13BB}"/>
              </a:ext>
            </a:extLst>
          </p:cNvPr>
          <p:cNvSpPr>
            <a:spLocks noGrp="1"/>
          </p:cNvSpPr>
          <p:nvPr>
            <p:ph type="title"/>
          </p:nvPr>
        </p:nvSpPr>
        <p:spPr>
          <a:xfrm>
            <a:off x="841248" y="548640"/>
            <a:ext cx="3600860" cy="5431536"/>
          </a:xfrm>
        </p:spPr>
        <p:txBody>
          <a:bodyPr>
            <a:normAutofit/>
          </a:bodyPr>
          <a:lstStyle/>
          <a:p>
            <a:r>
              <a:rPr lang="en-US" sz="5400"/>
              <a:t>Problems and solutions </a:t>
            </a:r>
            <a:endParaRPr lang="LID4096" sz="5400"/>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B233970-6BB1-6C8E-F524-B401048CF770}"/>
              </a:ext>
            </a:extLst>
          </p:cNvPr>
          <p:cNvSpPr>
            <a:spLocks noGrp="1"/>
          </p:cNvSpPr>
          <p:nvPr>
            <p:ph idx="1"/>
          </p:nvPr>
        </p:nvSpPr>
        <p:spPr>
          <a:xfrm>
            <a:off x="5126418" y="552091"/>
            <a:ext cx="6224335" cy="5431536"/>
          </a:xfrm>
        </p:spPr>
        <p:txBody>
          <a:bodyPr anchor="ctr">
            <a:normAutofit/>
          </a:bodyPr>
          <a:lstStyle/>
          <a:p>
            <a:pPr marL="0" indent="0">
              <a:buNone/>
            </a:pPr>
            <a:r>
              <a:rPr lang="en-GB" sz="2200">
                <a:latin typeface="Georgia Pro Light" panose="02040302050405020303" pitchFamily="18" charset="0"/>
              </a:rPr>
              <a:t>Since the dataset didn’t include order dates, we had to create a formula to randomly generate dates and associate them with each order. This allowed us to build a time-based structure and ensure continuity for working on the project.</a:t>
            </a:r>
          </a:p>
          <a:p>
            <a:pPr marL="0" indent="0">
              <a:buNone/>
            </a:pPr>
            <a:r>
              <a:rPr lang="en-GB" sz="2200">
                <a:latin typeface="Georgia Pro Light" panose="02040302050405020303" pitchFamily="18" charset="0"/>
              </a:rPr>
              <a:t>In particular, we initially didn’t define the period column as a proper date format, which caused issues when trying to create time-intelligent DAX measures and visualizations.</a:t>
            </a:r>
          </a:p>
          <a:p>
            <a:endParaRPr lang="en-US" sz="2200"/>
          </a:p>
        </p:txBody>
      </p:sp>
    </p:spTree>
    <p:extLst>
      <p:ext uri="{BB962C8B-B14F-4D97-AF65-F5344CB8AC3E}">
        <p14:creationId xmlns:p14="http://schemas.microsoft.com/office/powerpoint/2010/main" val="724799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1564BF4-8708-A8BE-A8A9-3F67D3A5C859}"/>
              </a:ext>
            </a:extLst>
          </p:cNvPr>
          <p:cNvSpPr>
            <a:spLocks noGrp="1"/>
          </p:cNvSpPr>
          <p:nvPr>
            <p:ph type="title"/>
          </p:nvPr>
        </p:nvSpPr>
        <p:spPr>
          <a:xfrm>
            <a:off x="7193188" y="893441"/>
            <a:ext cx="4092419" cy="2387723"/>
          </a:xfrm>
        </p:spPr>
        <p:txBody>
          <a:bodyPr>
            <a:normAutofit/>
          </a:bodyPr>
          <a:lstStyle/>
          <a:p>
            <a:r>
              <a:rPr lang="en-GB" sz="2000" dirty="0">
                <a:latin typeface="Georgia Pro Light" panose="02040302050405020303" pitchFamily="18" charset="0"/>
              </a:rPr>
              <a:t>This chart shows the total revenue generated by each product. It allows us to easily compare which product categories are the most profitable.</a:t>
            </a:r>
            <a:endParaRPr lang="LID4096" sz="2000" dirty="0">
              <a:latin typeface="Georgia Pro Light" panose="02040302050405020303" pitchFamily="18" charset="0"/>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Content Placeholder 4">
            <a:extLst>
              <a:ext uri="{FF2B5EF4-FFF2-40B4-BE49-F238E27FC236}">
                <a16:creationId xmlns:a16="http://schemas.microsoft.com/office/drawing/2014/main" id="{5848DAE6-A27A-2007-2142-D204CC86099A}"/>
              </a:ext>
            </a:extLst>
          </p:cNvPr>
          <p:cNvPicPr>
            <a:picLocks noGrp="1" noChangeAspect="1"/>
          </p:cNvPicPr>
          <p:nvPr>
            <p:ph idx="1"/>
          </p:nvPr>
        </p:nvPicPr>
        <p:blipFill>
          <a:blip r:embed="rId2"/>
          <a:stretch>
            <a:fillRect/>
          </a:stretch>
        </p:blipFill>
        <p:spPr>
          <a:xfrm>
            <a:off x="4026707" y="4174605"/>
            <a:ext cx="7201270" cy="2387723"/>
          </a:xfrm>
          <a:prstGeom prst="rect">
            <a:avLst/>
          </a:prstGeom>
        </p:spPr>
      </p:pic>
      <p:pic>
        <p:nvPicPr>
          <p:cNvPr id="7" name="Picture 6">
            <a:extLst>
              <a:ext uri="{FF2B5EF4-FFF2-40B4-BE49-F238E27FC236}">
                <a16:creationId xmlns:a16="http://schemas.microsoft.com/office/drawing/2014/main" id="{EB3129FB-08C5-75C2-FAD8-4271C1ABADB1}"/>
              </a:ext>
            </a:extLst>
          </p:cNvPr>
          <p:cNvPicPr>
            <a:picLocks noChangeAspect="1"/>
          </p:cNvPicPr>
          <p:nvPr/>
        </p:nvPicPr>
        <p:blipFill>
          <a:blip r:embed="rId3"/>
          <a:stretch>
            <a:fillRect/>
          </a:stretch>
        </p:blipFill>
        <p:spPr>
          <a:xfrm>
            <a:off x="344381" y="180250"/>
            <a:ext cx="6574395" cy="4005942"/>
          </a:xfrm>
          <a:prstGeom prst="rect">
            <a:avLst/>
          </a:prstGeom>
        </p:spPr>
      </p:pic>
    </p:spTree>
    <p:extLst>
      <p:ext uri="{BB962C8B-B14F-4D97-AF65-F5344CB8AC3E}">
        <p14:creationId xmlns:p14="http://schemas.microsoft.com/office/powerpoint/2010/main" val="3829012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DCEC59-82A2-839D-1DDA-1CEBBF8A4C1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85B7D4-FDEF-2DB5-A8D2-9D61955F2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2EABA39F-6E79-BC29-6A48-28F24BD8B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0BE63F4-20B2-43BD-6EA3-4BFB9F3348F5}"/>
              </a:ext>
            </a:extLst>
          </p:cNvPr>
          <p:cNvSpPr>
            <a:spLocks noGrp="1"/>
          </p:cNvSpPr>
          <p:nvPr>
            <p:ph type="title"/>
          </p:nvPr>
        </p:nvSpPr>
        <p:spPr>
          <a:xfrm>
            <a:off x="8610601" y="862454"/>
            <a:ext cx="3578352" cy="5222660"/>
          </a:xfrm>
        </p:spPr>
        <p:txBody>
          <a:bodyPr>
            <a:normAutofit/>
          </a:bodyPr>
          <a:lstStyle/>
          <a:p>
            <a:r>
              <a:rPr lang="en-GB" sz="2000" dirty="0">
                <a:latin typeface="Georgia Pro Light" panose="02040302050405020303" pitchFamily="18" charset="0"/>
              </a:rPr>
              <a:t>This These two charts display the same data but at different levels of hierarchy.</a:t>
            </a:r>
            <a:br>
              <a:rPr lang="en-GB" sz="2000" dirty="0">
                <a:latin typeface="Georgia Pro Light" panose="02040302050405020303" pitchFamily="18" charset="0"/>
              </a:rPr>
            </a:br>
            <a:r>
              <a:rPr lang="en-GB" sz="2000" dirty="0">
                <a:latin typeface="Georgia Pro Light" panose="02040302050405020303" pitchFamily="18" charset="0"/>
              </a:rPr>
              <a:t>The first chart shows total revenue and quantity by division, while the second drills down into region-level details within each division.</a:t>
            </a:r>
            <a:br>
              <a:rPr lang="en-GB" sz="2000" dirty="0">
                <a:latin typeface="Georgia Pro Light" panose="02040302050405020303" pitchFamily="18" charset="0"/>
              </a:rPr>
            </a:br>
            <a:endParaRPr lang="LID4096" sz="2000" dirty="0">
              <a:latin typeface="Georgia Pro Light" panose="02040302050405020303" pitchFamily="18" charset="0"/>
            </a:endParaRPr>
          </a:p>
        </p:txBody>
      </p:sp>
      <p:sp>
        <p:nvSpPr>
          <p:cNvPr id="12" name="Arc 11">
            <a:extLst>
              <a:ext uri="{FF2B5EF4-FFF2-40B4-BE49-F238E27FC236}">
                <a16:creationId xmlns:a16="http://schemas.microsoft.com/office/drawing/2014/main" id="{B2DD4A60-ED68-23FD-92A1-52658A85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5" name="Content Placeholder 14">
            <a:extLst>
              <a:ext uri="{FF2B5EF4-FFF2-40B4-BE49-F238E27FC236}">
                <a16:creationId xmlns:a16="http://schemas.microsoft.com/office/drawing/2014/main" id="{3097BE5D-6907-4CF9-176D-70B60D9603E6}"/>
              </a:ext>
            </a:extLst>
          </p:cNvPr>
          <p:cNvPicPr>
            <a:picLocks noGrp="1" noChangeAspect="1"/>
          </p:cNvPicPr>
          <p:nvPr>
            <p:ph idx="1"/>
          </p:nvPr>
        </p:nvPicPr>
        <p:blipFill>
          <a:blip r:embed="rId2"/>
          <a:stretch>
            <a:fillRect/>
          </a:stretch>
        </p:blipFill>
        <p:spPr>
          <a:xfrm>
            <a:off x="509898" y="3281164"/>
            <a:ext cx="7957114" cy="2649984"/>
          </a:xfrm>
          <a:prstGeom prst="rect">
            <a:avLst/>
          </a:prstGeom>
        </p:spPr>
      </p:pic>
      <p:pic>
        <p:nvPicPr>
          <p:cNvPr id="13" name="Picture 12">
            <a:extLst>
              <a:ext uri="{FF2B5EF4-FFF2-40B4-BE49-F238E27FC236}">
                <a16:creationId xmlns:a16="http://schemas.microsoft.com/office/drawing/2014/main" id="{26BE2369-2F6E-B7B9-B9CD-972D87F9E1C5}"/>
              </a:ext>
            </a:extLst>
          </p:cNvPr>
          <p:cNvPicPr>
            <a:picLocks noChangeAspect="1"/>
          </p:cNvPicPr>
          <p:nvPr/>
        </p:nvPicPr>
        <p:blipFill>
          <a:blip r:embed="rId3"/>
          <a:stretch>
            <a:fillRect/>
          </a:stretch>
        </p:blipFill>
        <p:spPr>
          <a:xfrm>
            <a:off x="509898" y="398016"/>
            <a:ext cx="7957114" cy="2678492"/>
          </a:xfrm>
          <a:prstGeom prst="rect">
            <a:avLst/>
          </a:prstGeom>
        </p:spPr>
      </p:pic>
    </p:spTree>
    <p:extLst>
      <p:ext uri="{BB962C8B-B14F-4D97-AF65-F5344CB8AC3E}">
        <p14:creationId xmlns:p14="http://schemas.microsoft.com/office/powerpoint/2010/main" val="206643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Content Placeholder 4">
            <a:extLst>
              <a:ext uri="{FF2B5EF4-FFF2-40B4-BE49-F238E27FC236}">
                <a16:creationId xmlns:a16="http://schemas.microsoft.com/office/drawing/2014/main" id="{5134CAC7-BD23-6603-C990-F7DDFDFC0F9D}"/>
              </a:ext>
            </a:extLst>
          </p:cNvPr>
          <p:cNvPicPr>
            <a:picLocks noGrp="1" noChangeAspect="1"/>
          </p:cNvPicPr>
          <p:nvPr>
            <p:ph idx="1"/>
          </p:nvPr>
        </p:nvPicPr>
        <p:blipFill>
          <a:blip r:embed="rId2"/>
          <a:stretch>
            <a:fillRect/>
          </a:stretch>
        </p:blipFill>
        <p:spPr>
          <a:xfrm>
            <a:off x="7386667" y="238999"/>
            <a:ext cx="4371209" cy="2728797"/>
          </a:xfrm>
          <a:prstGeom prst="rect">
            <a:avLst/>
          </a:prstGeom>
        </p:spPr>
      </p:pic>
      <p:pic>
        <p:nvPicPr>
          <p:cNvPr id="9" name="Picture 8">
            <a:extLst>
              <a:ext uri="{FF2B5EF4-FFF2-40B4-BE49-F238E27FC236}">
                <a16:creationId xmlns:a16="http://schemas.microsoft.com/office/drawing/2014/main" id="{C25F33AF-3514-98DB-D5B7-D21BEE87D11F}"/>
              </a:ext>
            </a:extLst>
          </p:cNvPr>
          <p:cNvPicPr>
            <a:picLocks noChangeAspect="1"/>
          </p:cNvPicPr>
          <p:nvPr/>
        </p:nvPicPr>
        <p:blipFill>
          <a:blip r:embed="rId3"/>
          <a:stretch>
            <a:fillRect/>
          </a:stretch>
        </p:blipFill>
        <p:spPr>
          <a:xfrm>
            <a:off x="7386667" y="3355658"/>
            <a:ext cx="4255586" cy="2576399"/>
          </a:xfrm>
          <a:prstGeom prst="rect">
            <a:avLst/>
          </a:prstGeom>
        </p:spPr>
      </p:pic>
      <p:pic>
        <p:nvPicPr>
          <p:cNvPr id="7" name="Picture 6">
            <a:extLst>
              <a:ext uri="{FF2B5EF4-FFF2-40B4-BE49-F238E27FC236}">
                <a16:creationId xmlns:a16="http://schemas.microsoft.com/office/drawing/2014/main" id="{D8B876CF-8118-B99C-C850-598E14B5650C}"/>
              </a:ext>
            </a:extLst>
          </p:cNvPr>
          <p:cNvPicPr>
            <a:picLocks noChangeAspect="1"/>
          </p:cNvPicPr>
          <p:nvPr/>
        </p:nvPicPr>
        <p:blipFill>
          <a:blip r:embed="rId4"/>
          <a:stretch>
            <a:fillRect/>
          </a:stretch>
        </p:blipFill>
        <p:spPr>
          <a:xfrm>
            <a:off x="1898189" y="3752602"/>
            <a:ext cx="4637846" cy="2236742"/>
          </a:xfrm>
          <a:prstGeom prst="rect">
            <a:avLst/>
          </a:prstGeom>
        </p:spPr>
      </p:pic>
      <p:sp>
        <p:nvSpPr>
          <p:cNvPr id="4" name="Title 1">
            <a:extLst>
              <a:ext uri="{FF2B5EF4-FFF2-40B4-BE49-F238E27FC236}">
                <a16:creationId xmlns:a16="http://schemas.microsoft.com/office/drawing/2014/main" id="{43ADBA33-EF4D-5B93-34DD-116561A81F74}"/>
              </a:ext>
            </a:extLst>
          </p:cNvPr>
          <p:cNvSpPr>
            <a:spLocks noGrp="1"/>
          </p:cNvSpPr>
          <p:nvPr>
            <p:ph type="title"/>
          </p:nvPr>
        </p:nvSpPr>
        <p:spPr>
          <a:xfrm>
            <a:off x="848239" y="477998"/>
            <a:ext cx="6311099" cy="3172732"/>
          </a:xfrm>
        </p:spPr>
        <p:txBody>
          <a:bodyPr>
            <a:normAutofit/>
          </a:bodyPr>
          <a:lstStyle/>
          <a:p>
            <a:r>
              <a:rPr lang="en-GB" sz="2000" dirty="0">
                <a:latin typeface="Georgia Pro Light" panose="02040302050405020303" pitchFamily="18" charset="0"/>
              </a:rPr>
              <a:t>These three visuals demonstrate the use of slicers in Excel, which allow interactive filtering of the data based on Division, Quarter, and Region. Each slicer dynamically updates the pivot table to display only the relevant data selected.</a:t>
            </a:r>
            <a:endParaRPr lang="LID4096" sz="2000" dirty="0">
              <a:latin typeface="Georgia Pro Light" panose="02040302050405020303" pitchFamily="18" charset="0"/>
            </a:endParaRPr>
          </a:p>
        </p:txBody>
      </p:sp>
    </p:spTree>
    <p:extLst>
      <p:ext uri="{BB962C8B-B14F-4D97-AF65-F5344CB8AC3E}">
        <p14:creationId xmlns:p14="http://schemas.microsoft.com/office/powerpoint/2010/main" val="203693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36124E-7F33-CC02-DCAC-89EF9CEE8FD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0C4CFF-087A-8F04-E943-110828C06E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21A51C-DA63-9636-E6AA-F1A414D034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5E284D37-ECE4-89AA-A357-F5010DC30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5BB6C2C-CF39-5EB8-0969-2BF69B204106}"/>
              </a:ext>
            </a:extLst>
          </p:cNvPr>
          <p:cNvSpPr>
            <a:spLocks noGrp="1"/>
          </p:cNvSpPr>
          <p:nvPr>
            <p:ph idx="1"/>
          </p:nvPr>
        </p:nvSpPr>
        <p:spPr>
          <a:xfrm>
            <a:off x="1367985" y="4157857"/>
            <a:ext cx="9615701" cy="1482807"/>
          </a:xfrm>
        </p:spPr>
        <p:txBody>
          <a:bodyPr>
            <a:normAutofit/>
          </a:bodyPr>
          <a:lstStyle/>
          <a:p>
            <a:pPr marL="0" indent="0">
              <a:buNone/>
            </a:pPr>
            <a:r>
              <a:rPr lang="en-GB" sz="2200" dirty="0">
                <a:latin typeface="Georgia Pro Light" panose="02040302050405020303" pitchFamily="18" charset="0"/>
              </a:rPr>
              <a:t>This visual shows the average revenue per order across different customer segments for the year 2011, filtered by the Distributor industry type using slicers. </a:t>
            </a:r>
          </a:p>
          <a:p>
            <a:pPr marL="0" indent="0">
              <a:buNone/>
            </a:pPr>
            <a:endParaRPr lang="LID4096" sz="2000" dirty="0">
              <a:latin typeface="Georgia Pro Light" panose="02040302050405020303" pitchFamily="18" charset="0"/>
            </a:endParaRPr>
          </a:p>
        </p:txBody>
      </p:sp>
      <p:pic>
        <p:nvPicPr>
          <p:cNvPr id="14" name="Picture 13">
            <a:extLst>
              <a:ext uri="{FF2B5EF4-FFF2-40B4-BE49-F238E27FC236}">
                <a16:creationId xmlns:a16="http://schemas.microsoft.com/office/drawing/2014/main" id="{318C8A9A-AE6B-2F16-3BB9-E78844A0503B}"/>
              </a:ext>
            </a:extLst>
          </p:cNvPr>
          <p:cNvPicPr>
            <a:picLocks noChangeAspect="1"/>
          </p:cNvPicPr>
          <p:nvPr/>
        </p:nvPicPr>
        <p:blipFill>
          <a:blip r:embed="rId2"/>
          <a:stretch>
            <a:fillRect/>
          </a:stretch>
        </p:blipFill>
        <p:spPr>
          <a:xfrm>
            <a:off x="1367985" y="959908"/>
            <a:ext cx="8257092" cy="2716039"/>
          </a:xfrm>
          <a:prstGeom prst="rect">
            <a:avLst/>
          </a:prstGeom>
        </p:spPr>
      </p:pic>
    </p:spTree>
    <p:extLst>
      <p:ext uri="{BB962C8B-B14F-4D97-AF65-F5344CB8AC3E}">
        <p14:creationId xmlns:p14="http://schemas.microsoft.com/office/powerpoint/2010/main" val="1821136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931BE0-CD01-A297-05E0-DAF46384F9B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6EC07C-0F39-FC76-E8A4-08A90DFD5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8BB385C-56F1-3ED8-85D9-4728E74C1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114A8D70-E5F5-3E34-7E20-33BAC67E79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6" name="Content Placeholder 5">
            <a:extLst>
              <a:ext uri="{FF2B5EF4-FFF2-40B4-BE49-F238E27FC236}">
                <a16:creationId xmlns:a16="http://schemas.microsoft.com/office/drawing/2014/main" id="{0634B55A-2222-3B8E-434D-468076337938}"/>
              </a:ext>
            </a:extLst>
          </p:cNvPr>
          <p:cNvPicPr>
            <a:picLocks noGrp="1" noChangeAspect="1"/>
          </p:cNvPicPr>
          <p:nvPr>
            <p:ph idx="1"/>
          </p:nvPr>
        </p:nvPicPr>
        <p:blipFill>
          <a:blip r:embed="rId2"/>
          <a:stretch>
            <a:fillRect/>
          </a:stretch>
        </p:blipFill>
        <p:spPr>
          <a:xfrm>
            <a:off x="1183809" y="3029221"/>
            <a:ext cx="6618025" cy="2518427"/>
          </a:xfrm>
          <a:prstGeom prst="rect">
            <a:avLst/>
          </a:prstGeom>
        </p:spPr>
      </p:pic>
      <p:pic>
        <p:nvPicPr>
          <p:cNvPr id="9" name="Picture 8">
            <a:extLst>
              <a:ext uri="{FF2B5EF4-FFF2-40B4-BE49-F238E27FC236}">
                <a16:creationId xmlns:a16="http://schemas.microsoft.com/office/drawing/2014/main" id="{AB4DAAFD-392A-AD1D-3684-2D19BCEFE47C}"/>
              </a:ext>
            </a:extLst>
          </p:cNvPr>
          <p:cNvPicPr>
            <a:picLocks noChangeAspect="1"/>
          </p:cNvPicPr>
          <p:nvPr/>
        </p:nvPicPr>
        <p:blipFill>
          <a:blip r:embed="rId3"/>
          <a:stretch>
            <a:fillRect/>
          </a:stretch>
        </p:blipFill>
        <p:spPr>
          <a:xfrm>
            <a:off x="8635941" y="1526984"/>
            <a:ext cx="2587230" cy="3953520"/>
          </a:xfrm>
          <a:prstGeom prst="rect">
            <a:avLst/>
          </a:prstGeom>
        </p:spPr>
      </p:pic>
      <p:sp>
        <p:nvSpPr>
          <p:cNvPr id="13" name="TextBox 12">
            <a:extLst>
              <a:ext uri="{FF2B5EF4-FFF2-40B4-BE49-F238E27FC236}">
                <a16:creationId xmlns:a16="http://schemas.microsoft.com/office/drawing/2014/main" id="{2F30BE4A-B18E-206C-6E25-2A011E691CC6}"/>
              </a:ext>
            </a:extLst>
          </p:cNvPr>
          <p:cNvSpPr txBox="1"/>
          <p:nvPr/>
        </p:nvSpPr>
        <p:spPr>
          <a:xfrm>
            <a:off x="1183809" y="403599"/>
            <a:ext cx="6096000" cy="2246769"/>
          </a:xfrm>
          <a:prstGeom prst="rect">
            <a:avLst/>
          </a:prstGeom>
          <a:noFill/>
        </p:spPr>
        <p:txBody>
          <a:bodyPr wrap="square">
            <a:spAutoFit/>
          </a:bodyPr>
          <a:lstStyle/>
          <a:p>
            <a:r>
              <a:rPr lang="en-GB" sz="2000" dirty="0">
                <a:latin typeface="Georgia Pro Light" panose="02040302050405020303" pitchFamily="18" charset="0"/>
              </a:rPr>
              <a:t>This table uses conditional formatting and status indicators to visually highlight customer performance. It includes dynamic slicers for selecting year and product, allowing interactive filtering and exploration of the data. This setup enables users to easily focus on specific segments or time periods and </a:t>
            </a:r>
            <a:r>
              <a:rPr lang="en-GB" sz="2000" dirty="0" err="1">
                <a:latin typeface="Georgia Pro Light" panose="02040302050405020303" pitchFamily="18" charset="0"/>
              </a:rPr>
              <a:t>analyze</a:t>
            </a:r>
            <a:r>
              <a:rPr lang="en-GB" sz="2000" dirty="0">
                <a:latin typeface="Georgia Pro Light" panose="02040302050405020303" pitchFamily="18" charset="0"/>
              </a:rPr>
              <a:t> performance at a glance.</a:t>
            </a:r>
            <a:endParaRPr lang="LID4096" sz="2000" dirty="0">
              <a:latin typeface="Georgia Pro Light" panose="02040302050405020303" pitchFamily="18" charset="0"/>
            </a:endParaRPr>
          </a:p>
        </p:txBody>
      </p:sp>
    </p:spTree>
    <p:extLst>
      <p:ext uri="{BB962C8B-B14F-4D97-AF65-F5344CB8AC3E}">
        <p14:creationId xmlns:p14="http://schemas.microsoft.com/office/powerpoint/2010/main" val="39283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EBA43F-0771-30A2-779D-E63FF3F1EF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1A1633-3C16-3CF9-8153-740E943714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0118252-E476-8422-EEAE-084192B09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D8AF8826-25D7-14AB-A06C-075E37F84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3" name="Content Placeholder 2">
            <a:extLst>
              <a:ext uri="{FF2B5EF4-FFF2-40B4-BE49-F238E27FC236}">
                <a16:creationId xmlns:a16="http://schemas.microsoft.com/office/drawing/2014/main" id="{BC7A5F24-16E5-7758-0156-1664A0C1B361}"/>
              </a:ext>
            </a:extLst>
          </p:cNvPr>
          <p:cNvPicPr>
            <a:picLocks noGrp="1" noChangeAspect="1"/>
          </p:cNvPicPr>
          <p:nvPr>
            <p:ph idx="1"/>
          </p:nvPr>
        </p:nvPicPr>
        <p:blipFill>
          <a:blip r:embed="rId2"/>
          <a:stretch>
            <a:fillRect/>
          </a:stretch>
        </p:blipFill>
        <p:spPr>
          <a:xfrm>
            <a:off x="545815" y="238999"/>
            <a:ext cx="5550185" cy="2559182"/>
          </a:xfrm>
          <a:prstGeom prst="rect">
            <a:avLst/>
          </a:prstGeom>
        </p:spPr>
      </p:pic>
      <p:pic>
        <p:nvPicPr>
          <p:cNvPr id="6" name="Picture 5">
            <a:extLst>
              <a:ext uri="{FF2B5EF4-FFF2-40B4-BE49-F238E27FC236}">
                <a16:creationId xmlns:a16="http://schemas.microsoft.com/office/drawing/2014/main" id="{18983BD1-269C-A80C-F818-84FB92EA9526}"/>
              </a:ext>
            </a:extLst>
          </p:cNvPr>
          <p:cNvPicPr>
            <a:picLocks noChangeAspect="1"/>
          </p:cNvPicPr>
          <p:nvPr/>
        </p:nvPicPr>
        <p:blipFill>
          <a:blip r:embed="rId3"/>
          <a:stretch>
            <a:fillRect/>
          </a:stretch>
        </p:blipFill>
        <p:spPr>
          <a:xfrm>
            <a:off x="526764" y="3252827"/>
            <a:ext cx="5569236" cy="2559182"/>
          </a:xfrm>
          <a:prstGeom prst="rect">
            <a:avLst/>
          </a:prstGeom>
        </p:spPr>
      </p:pic>
      <p:sp>
        <p:nvSpPr>
          <p:cNvPr id="7" name="TextBox 6">
            <a:extLst>
              <a:ext uri="{FF2B5EF4-FFF2-40B4-BE49-F238E27FC236}">
                <a16:creationId xmlns:a16="http://schemas.microsoft.com/office/drawing/2014/main" id="{4B9B3F6B-8DAD-66F0-29D4-B5003C6EC88B}"/>
              </a:ext>
            </a:extLst>
          </p:cNvPr>
          <p:cNvSpPr txBox="1"/>
          <p:nvPr/>
        </p:nvSpPr>
        <p:spPr>
          <a:xfrm>
            <a:off x="6638767" y="1524669"/>
            <a:ext cx="3765255" cy="2554545"/>
          </a:xfrm>
          <a:prstGeom prst="rect">
            <a:avLst/>
          </a:prstGeom>
          <a:noFill/>
        </p:spPr>
        <p:txBody>
          <a:bodyPr wrap="square">
            <a:spAutoFit/>
          </a:bodyPr>
          <a:lstStyle/>
          <a:p>
            <a:r>
              <a:rPr lang="en-GB" sz="2000" dirty="0">
                <a:latin typeface="Georgia Pro Light" panose="02040302050405020303" pitchFamily="18" charset="0"/>
              </a:rPr>
              <a:t>The slicers allow interactive filtering by industry type and region.</a:t>
            </a:r>
            <a:br>
              <a:rPr lang="en-GB" sz="2000" dirty="0">
                <a:latin typeface="Georgia Pro Light" panose="02040302050405020303" pitchFamily="18" charset="0"/>
              </a:rPr>
            </a:br>
            <a:r>
              <a:rPr lang="en-GB" sz="2000" dirty="0">
                <a:latin typeface="Georgia Pro Light" panose="02040302050405020303" pitchFamily="18" charset="0"/>
              </a:rPr>
              <a:t>The first chart compares both total and average revenue overall, while the second dynamically updates the same metrics by region.</a:t>
            </a:r>
            <a:endParaRPr lang="LID4096" sz="2000" dirty="0">
              <a:latin typeface="Georgia Pro Light" panose="02040302050405020303" pitchFamily="18" charset="0"/>
            </a:endParaRPr>
          </a:p>
        </p:txBody>
      </p:sp>
    </p:spTree>
    <p:extLst>
      <p:ext uri="{BB962C8B-B14F-4D97-AF65-F5344CB8AC3E}">
        <p14:creationId xmlns:p14="http://schemas.microsoft.com/office/powerpoint/2010/main" val="913099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2D283D-1DFD-EB22-F45B-27D0A6E62BF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376CBF-7454-8945-5870-AC45A84B7F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8B2F82C-0DC9-E2AB-8A00-75A5DA4665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5AF5629D-C7E8-67B2-D75F-3242438A2D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3" name="Content Placeholder 2">
            <a:extLst>
              <a:ext uri="{FF2B5EF4-FFF2-40B4-BE49-F238E27FC236}">
                <a16:creationId xmlns:a16="http://schemas.microsoft.com/office/drawing/2014/main" id="{9B946B39-B01C-651B-92A3-F622323C5A0B}"/>
              </a:ext>
            </a:extLst>
          </p:cNvPr>
          <p:cNvPicPr>
            <a:picLocks noGrp="1" noChangeAspect="1"/>
          </p:cNvPicPr>
          <p:nvPr>
            <p:ph idx="1"/>
          </p:nvPr>
        </p:nvPicPr>
        <p:blipFill>
          <a:blip r:embed="rId2"/>
          <a:stretch>
            <a:fillRect/>
          </a:stretch>
        </p:blipFill>
        <p:spPr>
          <a:xfrm>
            <a:off x="4139104" y="3393515"/>
            <a:ext cx="7353678" cy="3168813"/>
          </a:xfrm>
          <a:prstGeom prst="rect">
            <a:avLst/>
          </a:prstGeom>
        </p:spPr>
      </p:pic>
      <p:pic>
        <p:nvPicPr>
          <p:cNvPr id="9" name="Picture 8">
            <a:extLst>
              <a:ext uri="{FF2B5EF4-FFF2-40B4-BE49-F238E27FC236}">
                <a16:creationId xmlns:a16="http://schemas.microsoft.com/office/drawing/2014/main" id="{53FF6F7F-98A9-0443-4435-522B5B33A335}"/>
              </a:ext>
            </a:extLst>
          </p:cNvPr>
          <p:cNvPicPr>
            <a:picLocks noChangeAspect="1"/>
          </p:cNvPicPr>
          <p:nvPr/>
        </p:nvPicPr>
        <p:blipFill>
          <a:blip r:embed="rId3"/>
          <a:stretch>
            <a:fillRect/>
          </a:stretch>
        </p:blipFill>
        <p:spPr>
          <a:xfrm>
            <a:off x="4135929" y="7471"/>
            <a:ext cx="7360028" cy="3168813"/>
          </a:xfrm>
          <a:prstGeom prst="rect">
            <a:avLst/>
          </a:prstGeom>
        </p:spPr>
      </p:pic>
      <p:sp>
        <p:nvSpPr>
          <p:cNvPr id="15" name="TextBox 14">
            <a:extLst>
              <a:ext uri="{FF2B5EF4-FFF2-40B4-BE49-F238E27FC236}">
                <a16:creationId xmlns:a16="http://schemas.microsoft.com/office/drawing/2014/main" id="{67CA1333-3289-4B8D-1662-8981BFE048B2}"/>
              </a:ext>
            </a:extLst>
          </p:cNvPr>
          <p:cNvSpPr txBox="1"/>
          <p:nvPr/>
        </p:nvSpPr>
        <p:spPr>
          <a:xfrm>
            <a:off x="358790" y="347268"/>
            <a:ext cx="3777139" cy="3693319"/>
          </a:xfrm>
          <a:prstGeom prst="rect">
            <a:avLst/>
          </a:prstGeom>
          <a:noFill/>
        </p:spPr>
        <p:txBody>
          <a:bodyPr wrap="square">
            <a:spAutoFit/>
          </a:bodyPr>
          <a:lstStyle/>
          <a:p>
            <a:r>
              <a:rPr lang="en-GB" dirty="0">
                <a:latin typeface="Georgia Pro Light" panose="02040302050405020303" pitchFamily="18" charset="0"/>
              </a:rPr>
              <a:t>These two charts show the evolution of total revenue over time.</a:t>
            </a:r>
            <a:br>
              <a:rPr lang="en-GB" dirty="0">
                <a:latin typeface="Georgia Pro Light" panose="02040302050405020303" pitchFamily="18" charset="0"/>
              </a:rPr>
            </a:br>
            <a:r>
              <a:rPr lang="en-GB" dirty="0">
                <a:latin typeface="Georgia Pro Light" panose="02040302050405020303" pitchFamily="18" charset="0"/>
              </a:rPr>
              <a:t>The slicers at the bottom (Year, Quarter, and Month) allow dynamic filtering, enabling users to drill down from annual to monthly data.</a:t>
            </a:r>
            <a:br>
              <a:rPr lang="en-GB" dirty="0">
                <a:latin typeface="Georgia Pro Light" panose="02040302050405020303" pitchFamily="18" charset="0"/>
              </a:rPr>
            </a:br>
            <a:r>
              <a:rPr lang="en-GB" dirty="0">
                <a:latin typeface="Georgia Pro Light" panose="02040302050405020303" pitchFamily="18" charset="0"/>
              </a:rPr>
              <a:t>The first chart displays all periods, while the second chart shows only yearly totals after filtering by "</a:t>
            </a:r>
            <a:r>
              <a:rPr lang="en-GB" dirty="0" err="1">
                <a:latin typeface="Georgia Pro Light" panose="02040302050405020303" pitchFamily="18" charset="0"/>
              </a:rPr>
              <a:t>MonthName</a:t>
            </a:r>
            <a:r>
              <a:rPr lang="en-GB" dirty="0">
                <a:latin typeface="Georgia Pro Light" panose="02040302050405020303" pitchFamily="18" charset="0"/>
              </a:rPr>
              <a:t>" or "Quarter".</a:t>
            </a:r>
            <a:br>
              <a:rPr lang="en-GB" dirty="0">
                <a:latin typeface="Georgia Pro Light" panose="02040302050405020303" pitchFamily="18" charset="0"/>
              </a:rPr>
            </a:br>
            <a:r>
              <a:rPr lang="en-GB" dirty="0">
                <a:latin typeface="Georgia Pro Light" panose="02040302050405020303" pitchFamily="18" charset="0"/>
              </a:rPr>
              <a:t>This setup provides a flexible way to </a:t>
            </a:r>
            <a:r>
              <a:rPr lang="en-GB" dirty="0" err="1">
                <a:latin typeface="Georgia Pro Light" panose="02040302050405020303" pitchFamily="18" charset="0"/>
              </a:rPr>
              <a:t>analyze</a:t>
            </a:r>
            <a:r>
              <a:rPr lang="en-GB" dirty="0">
                <a:latin typeface="Georgia Pro Light" panose="02040302050405020303" pitchFamily="18" charset="0"/>
              </a:rPr>
              <a:t> performance trends by different time levels.</a:t>
            </a:r>
            <a:endParaRPr lang="LID4096" dirty="0">
              <a:latin typeface="Georgia Pro Light" panose="02040302050405020303" pitchFamily="18" charset="0"/>
            </a:endParaRPr>
          </a:p>
        </p:txBody>
      </p:sp>
    </p:spTree>
    <p:extLst>
      <p:ext uri="{BB962C8B-B14F-4D97-AF65-F5344CB8AC3E}">
        <p14:creationId xmlns:p14="http://schemas.microsoft.com/office/powerpoint/2010/main" val="913808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FAFC31-C6AE-C54D-95E7-14B379FB135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10CB4F-D229-F499-B2B8-B6257BEF4F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0F86D4B-757D-9AEB-BBCE-2E4BDD1E89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4646C294-FDDF-F4D9-0013-3256C7CD24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6" name="Picture 5">
            <a:extLst>
              <a:ext uri="{FF2B5EF4-FFF2-40B4-BE49-F238E27FC236}">
                <a16:creationId xmlns:a16="http://schemas.microsoft.com/office/drawing/2014/main" id="{D27956F3-92D5-4EE9-1879-C08F043F65D3}"/>
              </a:ext>
            </a:extLst>
          </p:cNvPr>
          <p:cNvPicPr>
            <a:picLocks noChangeAspect="1"/>
          </p:cNvPicPr>
          <p:nvPr/>
        </p:nvPicPr>
        <p:blipFill>
          <a:blip r:embed="rId2"/>
          <a:srcRect l="4279" t="5511" r="1522"/>
          <a:stretch>
            <a:fillRect/>
          </a:stretch>
        </p:blipFill>
        <p:spPr>
          <a:xfrm>
            <a:off x="352671" y="3585384"/>
            <a:ext cx="7756646" cy="2815416"/>
          </a:xfrm>
          <a:prstGeom prst="rect">
            <a:avLst/>
          </a:prstGeom>
        </p:spPr>
      </p:pic>
      <p:pic>
        <p:nvPicPr>
          <p:cNvPr id="11" name="Picture 10">
            <a:extLst>
              <a:ext uri="{FF2B5EF4-FFF2-40B4-BE49-F238E27FC236}">
                <a16:creationId xmlns:a16="http://schemas.microsoft.com/office/drawing/2014/main" id="{FE1118F4-7860-6A2F-E37B-FCD4284BCD4D}"/>
              </a:ext>
            </a:extLst>
          </p:cNvPr>
          <p:cNvPicPr>
            <a:picLocks noChangeAspect="1"/>
          </p:cNvPicPr>
          <p:nvPr/>
        </p:nvPicPr>
        <p:blipFill>
          <a:blip r:embed="rId3"/>
          <a:stretch>
            <a:fillRect/>
          </a:stretch>
        </p:blipFill>
        <p:spPr>
          <a:xfrm>
            <a:off x="352672" y="355924"/>
            <a:ext cx="7667711" cy="2681272"/>
          </a:xfrm>
          <a:prstGeom prst="rect">
            <a:avLst/>
          </a:prstGeom>
        </p:spPr>
      </p:pic>
      <p:sp>
        <p:nvSpPr>
          <p:cNvPr id="14" name="TextBox 13">
            <a:extLst>
              <a:ext uri="{FF2B5EF4-FFF2-40B4-BE49-F238E27FC236}">
                <a16:creationId xmlns:a16="http://schemas.microsoft.com/office/drawing/2014/main" id="{C8969ED3-C67A-4731-67ED-E4BD5E191B28}"/>
              </a:ext>
            </a:extLst>
          </p:cNvPr>
          <p:cNvSpPr txBox="1"/>
          <p:nvPr/>
        </p:nvSpPr>
        <p:spPr>
          <a:xfrm>
            <a:off x="8458940" y="692103"/>
            <a:ext cx="3337871" cy="5016758"/>
          </a:xfrm>
          <a:prstGeom prst="rect">
            <a:avLst/>
          </a:prstGeom>
          <a:noFill/>
        </p:spPr>
        <p:txBody>
          <a:bodyPr wrap="square">
            <a:spAutoFit/>
          </a:bodyPr>
          <a:lstStyle/>
          <a:p>
            <a:r>
              <a:rPr lang="en-GB" sz="2000" dirty="0">
                <a:latin typeface="Georgia Pro Light" panose="02040302050405020303" pitchFamily="18" charset="0"/>
              </a:rPr>
              <a:t>This visualization displays how total revenue is divided across the three main divisions—Health, Life, and Property Insurance—for a selected year.</a:t>
            </a:r>
            <a:br>
              <a:rPr lang="en-GB" sz="2000" dirty="0">
                <a:latin typeface="Georgia Pro Light" panose="02040302050405020303" pitchFamily="18" charset="0"/>
              </a:rPr>
            </a:br>
            <a:r>
              <a:rPr lang="en-GB" sz="2000" dirty="0">
                <a:latin typeface="Georgia Pro Light" panose="02040302050405020303" pitchFamily="18" charset="0"/>
              </a:rPr>
              <a:t>Using the Year and </a:t>
            </a:r>
            <a:r>
              <a:rPr lang="en-GB" sz="2000" dirty="0" err="1">
                <a:latin typeface="Georgia Pro Light" panose="02040302050405020303" pitchFamily="18" charset="0"/>
              </a:rPr>
              <a:t>DivisionName</a:t>
            </a:r>
            <a:r>
              <a:rPr lang="en-GB" sz="2000" dirty="0">
                <a:latin typeface="Georgia Pro Light" panose="02040302050405020303" pitchFamily="18" charset="0"/>
              </a:rPr>
              <a:t> slicers, we can switch between different time periods and observe changes in the distribution. The chart updates dynamically, offering a quick comparison of the proportion each division contributes to the overall revenue.</a:t>
            </a:r>
            <a:endParaRPr lang="LID4096" sz="2000" dirty="0">
              <a:latin typeface="Georgia Pro Light" panose="02040302050405020303" pitchFamily="18" charset="0"/>
            </a:endParaRPr>
          </a:p>
        </p:txBody>
      </p:sp>
    </p:spTree>
    <p:extLst>
      <p:ext uri="{BB962C8B-B14F-4D97-AF65-F5344CB8AC3E}">
        <p14:creationId xmlns:p14="http://schemas.microsoft.com/office/powerpoint/2010/main" val="862928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D74D75-154D-76B0-9958-5C913015719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0D9E05-BC5D-4BA0-D004-FA9DA8AD0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05EA24F-22BE-04AA-6B71-C3B96902F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334F580C-171F-A246-ACDA-2C2CE0950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4A7AC42D-5FCE-F312-6B64-12FB35A92B57}"/>
              </a:ext>
            </a:extLst>
          </p:cNvPr>
          <p:cNvSpPr>
            <a:spLocks noGrp="1"/>
          </p:cNvSpPr>
          <p:nvPr>
            <p:ph idx="1"/>
          </p:nvPr>
        </p:nvSpPr>
        <p:spPr>
          <a:xfrm>
            <a:off x="828161" y="485551"/>
            <a:ext cx="10515600" cy="4351338"/>
          </a:xfrm>
        </p:spPr>
        <p:txBody>
          <a:bodyPr>
            <a:normAutofit/>
          </a:bodyPr>
          <a:lstStyle/>
          <a:p>
            <a:pPr marL="0" indent="0">
              <a:buNone/>
            </a:pPr>
            <a:r>
              <a:rPr lang="en-GB" sz="2000" dirty="0">
                <a:latin typeface="Georgia Pro Light" panose="02040302050405020303" pitchFamily="18" charset="0"/>
              </a:rPr>
              <a:t>This dashboard highlights the top five customers by total revenue across three years. Each column represents a customer, with </a:t>
            </a:r>
            <a:r>
              <a:rPr lang="en-GB" sz="2000" dirty="0" err="1">
                <a:latin typeface="Georgia Pro Light" panose="02040302050405020303" pitchFamily="18" charset="0"/>
              </a:rPr>
              <a:t>colors</a:t>
            </a:r>
            <a:r>
              <a:rPr lang="en-GB" sz="2000" dirty="0">
                <a:latin typeface="Georgia Pro Light" panose="02040302050405020303" pitchFamily="18" charset="0"/>
              </a:rPr>
              <a:t> differentiating both the individual and their industry type (Distributor or End-User).</a:t>
            </a:r>
            <a:br>
              <a:rPr lang="en-GB" sz="2000" dirty="0">
                <a:latin typeface="Georgia Pro Light" panose="02040302050405020303" pitchFamily="18" charset="0"/>
              </a:rPr>
            </a:br>
            <a:endParaRPr lang="LID4096" sz="2000" dirty="0">
              <a:latin typeface="Georgia Pro Light" panose="02040302050405020303" pitchFamily="18" charset="0"/>
            </a:endParaRPr>
          </a:p>
        </p:txBody>
      </p:sp>
      <p:pic>
        <p:nvPicPr>
          <p:cNvPr id="3" name="Picture 2">
            <a:extLst>
              <a:ext uri="{FF2B5EF4-FFF2-40B4-BE49-F238E27FC236}">
                <a16:creationId xmlns:a16="http://schemas.microsoft.com/office/drawing/2014/main" id="{702632F6-4455-8E25-0056-DB3AF97E9F27}"/>
              </a:ext>
            </a:extLst>
          </p:cNvPr>
          <p:cNvPicPr>
            <a:picLocks noChangeAspect="1"/>
          </p:cNvPicPr>
          <p:nvPr/>
        </p:nvPicPr>
        <p:blipFill>
          <a:blip r:embed="rId2"/>
          <a:stretch>
            <a:fillRect/>
          </a:stretch>
        </p:blipFill>
        <p:spPr>
          <a:xfrm>
            <a:off x="5074646" y="1695427"/>
            <a:ext cx="5397334" cy="3856346"/>
          </a:xfrm>
          <a:prstGeom prst="rect">
            <a:avLst/>
          </a:prstGeom>
        </p:spPr>
      </p:pic>
    </p:spTree>
    <p:extLst>
      <p:ext uri="{BB962C8B-B14F-4D97-AF65-F5344CB8AC3E}">
        <p14:creationId xmlns:p14="http://schemas.microsoft.com/office/powerpoint/2010/main" val="2725863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F6B253-EB2F-B67B-1259-0F1EFA0D6BB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6DA477-B141-C6DE-CF1C-B3C99CA66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5EE3E2A-0E05-E2D3-E5F7-F37F0D0B04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C47B6FC2-EBE8-6F8D-A25D-E92DBD47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6" name="Content Placeholder 5">
            <a:extLst>
              <a:ext uri="{FF2B5EF4-FFF2-40B4-BE49-F238E27FC236}">
                <a16:creationId xmlns:a16="http://schemas.microsoft.com/office/drawing/2014/main" id="{65913F37-1FB5-667D-9FA9-35FB7AA7C92E}"/>
              </a:ext>
            </a:extLst>
          </p:cNvPr>
          <p:cNvPicPr>
            <a:picLocks noGrp="1" noChangeAspect="1"/>
          </p:cNvPicPr>
          <p:nvPr>
            <p:ph idx="1"/>
          </p:nvPr>
        </p:nvPicPr>
        <p:blipFill>
          <a:blip r:embed="rId2"/>
          <a:stretch>
            <a:fillRect/>
          </a:stretch>
        </p:blipFill>
        <p:spPr>
          <a:xfrm>
            <a:off x="449233" y="3648377"/>
            <a:ext cx="5040786" cy="2836031"/>
          </a:xfrm>
          <a:prstGeom prst="rect">
            <a:avLst/>
          </a:prstGeom>
        </p:spPr>
      </p:pic>
      <p:pic>
        <p:nvPicPr>
          <p:cNvPr id="3" name="Picture 2">
            <a:extLst>
              <a:ext uri="{FF2B5EF4-FFF2-40B4-BE49-F238E27FC236}">
                <a16:creationId xmlns:a16="http://schemas.microsoft.com/office/drawing/2014/main" id="{A0352AAA-6585-6A6C-906C-5599003B4B8A}"/>
              </a:ext>
            </a:extLst>
          </p:cNvPr>
          <p:cNvPicPr>
            <a:picLocks noChangeAspect="1"/>
          </p:cNvPicPr>
          <p:nvPr/>
        </p:nvPicPr>
        <p:blipFill>
          <a:blip r:embed="rId3"/>
          <a:stretch>
            <a:fillRect/>
          </a:stretch>
        </p:blipFill>
        <p:spPr>
          <a:xfrm>
            <a:off x="7053980" y="1709755"/>
            <a:ext cx="4823779" cy="1205944"/>
          </a:xfrm>
          <a:prstGeom prst="rect">
            <a:avLst/>
          </a:prstGeom>
        </p:spPr>
      </p:pic>
      <p:pic>
        <p:nvPicPr>
          <p:cNvPr id="9" name="Picture 8">
            <a:extLst>
              <a:ext uri="{FF2B5EF4-FFF2-40B4-BE49-F238E27FC236}">
                <a16:creationId xmlns:a16="http://schemas.microsoft.com/office/drawing/2014/main" id="{7E33141D-96AF-0FC6-9553-2334CB3614A3}"/>
              </a:ext>
            </a:extLst>
          </p:cNvPr>
          <p:cNvPicPr>
            <a:picLocks noChangeAspect="1"/>
          </p:cNvPicPr>
          <p:nvPr/>
        </p:nvPicPr>
        <p:blipFill>
          <a:blip r:embed="rId4"/>
          <a:stretch>
            <a:fillRect/>
          </a:stretch>
        </p:blipFill>
        <p:spPr>
          <a:xfrm>
            <a:off x="6082712" y="3648377"/>
            <a:ext cx="5761695" cy="2862321"/>
          </a:xfrm>
          <a:prstGeom prst="rect">
            <a:avLst/>
          </a:prstGeom>
        </p:spPr>
      </p:pic>
      <p:sp>
        <p:nvSpPr>
          <p:cNvPr id="13" name="TextBox 12">
            <a:extLst>
              <a:ext uri="{FF2B5EF4-FFF2-40B4-BE49-F238E27FC236}">
                <a16:creationId xmlns:a16="http://schemas.microsoft.com/office/drawing/2014/main" id="{A2E01700-BAA8-54C2-973A-EC378BA1A970}"/>
              </a:ext>
            </a:extLst>
          </p:cNvPr>
          <p:cNvSpPr txBox="1"/>
          <p:nvPr/>
        </p:nvSpPr>
        <p:spPr>
          <a:xfrm>
            <a:off x="643739" y="477998"/>
            <a:ext cx="6096000" cy="2862322"/>
          </a:xfrm>
          <a:prstGeom prst="rect">
            <a:avLst/>
          </a:prstGeom>
          <a:noFill/>
        </p:spPr>
        <p:txBody>
          <a:bodyPr wrap="square">
            <a:spAutoFit/>
          </a:bodyPr>
          <a:lstStyle/>
          <a:p>
            <a:pPr>
              <a:buNone/>
            </a:pPr>
            <a:r>
              <a:rPr lang="en-GB" sz="2000" dirty="0">
                <a:latin typeface="Georgia Pro Light" panose="02040302050405020303" pitchFamily="18" charset="0"/>
              </a:rPr>
              <a:t>This page displays total revenue by </a:t>
            </a:r>
            <a:r>
              <a:rPr lang="en-GB" sz="2000" i="1" dirty="0">
                <a:latin typeface="Georgia Pro Light" panose="02040302050405020303" pitchFamily="18" charset="0"/>
              </a:rPr>
              <a:t>Industry Type</a:t>
            </a:r>
            <a:r>
              <a:rPr lang="en-GB" sz="2000" dirty="0">
                <a:latin typeface="Georgia Pro Light" panose="02040302050405020303" pitchFamily="18" charset="0"/>
              </a:rPr>
              <a:t> (Distributor vs End-User) across the years 2011–2013.</a:t>
            </a:r>
          </a:p>
          <a:p>
            <a:pPr>
              <a:buFont typeface="Arial" panose="020B0604020202020204" pitchFamily="34" charset="0"/>
              <a:buChar char="•"/>
            </a:pPr>
            <a:r>
              <a:rPr lang="en-GB" sz="2000" dirty="0">
                <a:latin typeface="Georgia Pro Light" panose="02040302050405020303" pitchFamily="18" charset="0"/>
              </a:rPr>
              <a:t>The pivot table shows detailed revenue per year and segment.</a:t>
            </a:r>
          </a:p>
          <a:p>
            <a:pPr>
              <a:buFont typeface="Arial" panose="020B0604020202020204" pitchFamily="34" charset="0"/>
              <a:buChar char="•"/>
            </a:pPr>
            <a:r>
              <a:rPr lang="en-GB" sz="2000" dirty="0">
                <a:latin typeface="Georgia Pro Light" panose="02040302050405020303" pitchFamily="18" charset="0"/>
              </a:rPr>
              <a:t>The column chart allows for a quick comparison between the two industry types over time.</a:t>
            </a:r>
          </a:p>
          <a:p>
            <a:pPr>
              <a:buFont typeface="Arial" panose="020B0604020202020204" pitchFamily="34" charset="0"/>
              <a:buChar char="•"/>
            </a:pPr>
            <a:r>
              <a:rPr lang="en-GB" sz="2000" dirty="0">
                <a:latin typeface="Georgia Pro Light" panose="02040302050405020303" pitchFamily="18" charset="0"/>
              </a:rPr>
              <a:t>The line chart highlights the revenue trends for each group across the years.</a:t>
            </a:r>
          </a:p>
        </p:txBody>
      </p:sp>
    </p:spTree>
    <p:extLst>
      <p:ext uri="{BB962C8B-B14F-4D97-AF65-F5344CB8AC3E}">
        <p14:creationId xmlns:p14="http://schemas.microsoft.com/office/powerpoint/2010/main" val="639610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64A32E-7A9D-9F6B-3974-075548C113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5291511-89AD-708F-9591-030BEE1B2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7300418-65D6-28A5-48F7-F27AE15D1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2E39BE26-1888-75D0-5EA6-FFC3E44124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6" name="Content Placeholder 5">
            <a:extLst>
              <a:ext uri="{FF2B5EF4-FFF2-40B4-BE49-F238E27FC236}">
                <a16:creationId xmlns:a16="http://schemas.microsoft.com/office/drawing/2014/main" id="{43AA1DAB-F62A-7337-84BA-DB84C8C693E9}"/>
              </a:ext>
            </a:extLst>
          </p:cNvPr>
          <p:cNvPicPr>
            <a:picLocks noGrp="1" noChangeAspect="1"/>
          </p:cNvPicPr>
          <p:nvPr>
            <p:ph idx="1"/>
          </p:nvPr>
        </p:nvPicPr>
        <p:blipFill>
          <a:blip r:embed="rId2"/>
          <a:stretch>
            <a:fillRect/>
          </a:stretch>
        </p:blipFill>
        <p:spPr>
          <a:xfrm>
            <a:off x="4484600" y="3635190"/>
            <a:ext cx="6845652" cy="2800494"/>
          </a:xfrm>
          <a:prstGeom prst="rect">
            <a:avLst/>
          </a:prstGeom>
        </p:spPr>
      </p:pic>
      <p:pic>
        <p:nvPicPr>
          <p:cNvPr id="3" name="Picture 2">
            <a:extLst>
              <a:ext uri="{FF2B5EF4-FFF2-40B4-BE49-F238E27FC236}">
                <a16:creationId xmlns:a16="http://schemas.microsoft.com/office/drawing/2014/main" id="{5C738595-40EA-3251-0D06-9A368FA7B24E}"/>
              </a:ext>
            </a:extLst>
          </p:cNvPr>
          <p:cNvPicPr>
            <a:picLocks noChangeAspect="1"/>
          </p:cNvPicPr>
          <p:nvPr/>
        </p:nvPicPr>
        <p:blipFill>
          <a:blip r:embed="rId3"/>
          <a:stretch>
            <a:fillRect/>
          </a:stretch>
        </p:blipFill>
        <p:spPr>
          <a:xfrm>
            <a:off x="446274" y="858997"/>
            <a:ext cx="3485664" cy="4496773"/>
          </a:xfrm>
          <a:prstGeom prst="rect">
            <a:avLst/>
          </a:prstGeom>
        </p:spPr>
      </p:pic>
      <p:sp>
        <p:nvSpPr>
          <p:cNvPr id="9" name="TextBox 8">
            <a:extLst>
              <a:ext uri="{FF2B5EF4-FFF2-40B4-BE49-F238E27FC236}">
                <a16:creationId xmlns:a16="http://schemas.microsoft.com/office/drawing/2014/main" id="{65E14505-F00C-7940-E35F-8933A7222976}"/>
              </a:ext>
            </a:extLst>
          </p:cNvPr>
          <p:cNvSpPr txBox="1"/>
          <p:nvPr/>
        </p:nvSpPr>
        <p:spPr>
          <a:xfrm>
            <a:off x="4748579" y="1001987"/>
            <a:ext cx="6096000" cy="1631216"/>
          </a:xfrm>
          <a:prstGeom prst="rect">
            <a:avLst/>
          </a:prstGeom>
          <a:noFill/>
        </p:spPr>
        <p:txBody>
          <a:bodyPr wrap="square">
            <a:spAutoFit/>
          </a:bodyPr>
          <a:lstStyle/>
          <a:p>
            <a:r>
              <a:rPr lang="en-GB" sz="2000" dirty="0">
                <a:latin typeface="Georgia Pro Light" panose="02040302050405020303" pitchFamily="18" charset="0"/>
              </a:rPr>
              <a:t>This table shows the total revenue per product along with each product’s percentage of the overall revenue.</a:t>
            </a:r>
            <a:br>
              <a:rPr lang="en-GB" sz="2000" dirty="0">
                <a:latin typeface="Georgia Pro Light" panose="02040302050405020303" pitchFamily="18" charset="0"/>
              </a:rPr>
            </a:br>
            <a:r>
              <a:rPr lang="en-GB" sz="2000" dirty="0">
                <a:latin typeface="Georgia Pro Light" panose="02040302050405020303" pitchFamily="18" charset="0"/>
              </a:rPr>
              <a:t>The bar chart offers a visual comparison, while the slicer lets us filter by product name to explore specific data more easily.</a:t>
            </a:r>
            <a:endParaRPr lang="LID4096" sz="2000" dirty="0">
              <a:latin typeface="Georgia Pro Light" panose="02040302050405020303" pitchFamily="18" charset="0"/>
            </a:endParaRPr>
          </a:p>
        </p:txBody>
      </p:sp>
    </p:spTree>
    <p:extLst>
      <p:ext uri="{BB962C8B-B14F-4D97-AF65-F5344CB8AC3E}">
        <p14:creationId xmlns:p14="http://schemas.microsoft.com/office/powerpoint/2010/main" val="771010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8663F0-2019-D09D-6CFF-DB1A5C953B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737A501-01EC-3967-6BA9-2280220CC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CDD9096-D212-52FB-1FF1-61C80C26A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E3B77D1A-D0D3-372B-47D5-18AE7F8EA1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3" name="Content Placeholder 2">
            <a:extLst>
              <a:ext uri="{FF2B5EF4-FFF2-40B4-BE49-F238E27FC236}">
                <a16:creationId xmlns:a16="http://schemas.microsoft.com/office/drawing/2014/main" id="{8177BDDE-EE04-5463-C42E-75D93983BF47}"/>
              </a:ext>
            </a:extLst>
          </p:cNvPr>
          <p:cNvPicPr>
            <a:picLocks noGrp="1" noChangeAspect="1"/>
          </p:cNvPicPr>
          <p:nvPr>
            <p:ph idx="1"/>
          </p:nvPr>
        </p:nvPicPr>
        <p:blipFill>
          <a:blip r:embed="rId2"/>
          <a:stretch>
            <a:fillRect/>
          </a:stretch>
        </p:blipFill>
        <p:spPr>
          <a:xfrm>
            <a:off x="4031386" y="2155232"/>
            <a:ext cx="7943829" cy="4550872"/>
          </a:xfrm>
          <a:prstGeom prst="rect">
            <a:avLst/>
          </a:prstGeom>
        </p:spPr>
      </p:pic>
      <p:sp>
        <p:nvSpPr>
          <p:cNvPr id="6" name="TextBox 5">
            <a:extLst>
              <a:ext uri="{FF2B5EF4-FFF2-40B4-BE49-F238E27FC236}">
                <a16:creationId xmlns:a16="http://schemas.microsoft.com/office/drawing/2014/main" id="{F1BD085B-03A3-4BE0-FB98-2377D748D81F}"/>
              </a:ext>
            </a:extLst>
          </p:cNvPr>
          <p:cNvSpPr txBox="1"/>
          <p:nvPr/>
        </p:nvSpPr>
        <p:spPr>
          <a:xfrm>
            <a:off x="925286" y="151896"/>
            <a:ext cx="6096000" cy="2246769"/>
          </a:xfrm>
          <a:prstGeom prst="rect">
            <a:avLst/>
          </a:prstGeom>
          <a:noFill/>
        </p:spPr>
        <p:txBody>
          <a:bodyPr wrap="square">
            <a:spAutoFit/>
          </a:bodyPr>
          <a:lstStyle/>
          <a:p>
            <a:r>
              <a:rPr lang="en-GB" sz="2000" dirty="0">
                <a:latin typeface="Georgia Pro Light" panose="02040302050405020303" pitchFamily="18" charset="0"/>
              </a:rPr>
              <a:t>This dashboard shows total revenue per product, with the bar </a:t>
            </a:r>
            <a:r>
              <a:rPr lang="en-GB" sz="2000" dirty="0" err="1">
                <a:latin typeface="Georgia Pro Light" panose="02040302050405020303" pitchFamily="18" charset="0"/>
              </a:rPr>
              <a:t>colors</a:t>
            </a:r>
            <a:r>
              <a:rPr lang="en-GB" sz="2000" dirty="0">
                <a:latin typeface="Georgia Pro Light" panose="02040302050405020303" pitchFamily="18" charset="0"/>
              </a:rPr>
              <a:t> reflecting performance.</a:t>
            </a:r>
            <a:br>
              <a:rPr lang="en-GB" sz="2000" dirty="0">
                <a:latin typeface="Georgia Pro Light" panose="02040302050405020303" pitchFamily="18" charset="0"/>
              </a:rPr>
            </a:br>
            <a:r>
              <a:rPr lang="en-GB" sz="2000" dirty="0">
                <a:latin typeface="Georgia Pro Light" panose="02040302050405020303" pitchFamily="18" charset="0"/>
              </a:rPr>
              <a:t>The stacked chart breaks revenue down by year, and the scatter plot compares revenue and quantity for selected products.</a:t>
            </a:r>
            <a:br>
              <a:rPr lang="en-GB" sz="2000" dirty="0">
                <a:latin typeface="Georgia Pro Light" panose="02040302050405020303" pitchFamily="18" charset="0"/>
              </a:rPr>
            </a:br>
            <a:r>
              <a:rPr lang="en-GB" sz="2000" dirty="0">
                <a:latin typeface="Georgia Pro Light" panose="02040302050405020303" pitchFamily="18" charset="0"/>
              </a:rPr>
              <a:t>The slicers on the right let you filter the data by year, quarter, and country.</a:t>
            </a:r>
            <a:endParaRPr lang="LID4096" sz="2000" dirty="0">
              <a:latin typeface="Georgia Pro Light" panose="02040302050405020303" pitchFamily="18" charset="0"/>
            </a:endParaRPr>
          </a:p>
        </p:txBody>
      </p:sp>
    </p:spTree>
    <p:extLst>
      <p:ext uri="{BB962C8B-B14F-4D97-AF65-F5344CB8AC3E}">
        <p14:creationId xmlns:p14="http://schemas.microsoft.com/office/powerpoint/2010/main" val="1317248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7DCDEA-3ADE-04B8-6951-7DA79552753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B73A5C0-993D-E58A-B625-CDEC634F1A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14D2A84-EEAF-3ADE-1BAD-DEF00B94C1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6F3E27B0-106B-42A8-F147-369FC6050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9" name="Content Placeholder 8">
            <a:extLst>
              <a:ext uri="{FF2B5EF4-FFF2-40B4-BE49-F238E27FC236}">
                <a16:creationId xmlns:a16="http://schemas.microsoft.com/office/drawing/2014/main" id="{55E1700E-1622-F6E8-5EF5-63D2B8F80ED6}"/>
              </a:ext>
            </a:extLst>
          </p:cNvPr>
          <p:cNvPicPr>
            <a:picLocks noGrp="1" noChangeAspect="1"/>
          </p:cNvPicPr>
          <p:nvPr>
            <p:ph idx="1"/>
          </p:nvPr>
        </p:nvPicPr>
        <p:blipFill>
          <a:blip r:embed="rId2"/>
          <a:stretch>
            <a:fillRect/>
          </a:stretch>
        </p:blipFill>
        <p:spPr>
          <a:xfrm>
            <a:off x="3745403" y="2101629"/>
            <a:ext cx="8201608" cy="4658400"/>
          </a:xfrm>
          <a:prstGeom prst="rect">
            <a:avLst/>
          </a:prstGeom>
        </p:spPr>
      </p:pic>
      <p:sp>
        <p:nvSpPr>
          <p:cNvPr id="13" name="TextBox 12">
            <a:extLst>
              <a:ext uri="{FF2B5EF4-FFF2-40B4-BE49-F238E27FC236}">
                <a16:creationId xmlns:a16="http://schemas.microsoft.com/office/drawing/2014/main" id="{2929C562-C221-EA18-B44B-F8EFD0A3705D}"/>
              </a:ext>
            </a:extLst>
          </p:cNvPr>
          <p:cNvSpPr txBox="1"/>
          <p:nvPr/>
        </p:nvSpPr>
        <p:spPr>
          <a:xfrm>
            <a:off x="452413" y="576215"/>
            <a:ext cx="9756281" cy="1631216"/>
          </a:xfrm>
          <a:prstGeom prst="rect">
            <a:avLst/>
          </a:prstGeom>
          <a:noFill/>
        </p:spPr>
        <p:txBody>
          <a:bodyPr wrap="square">
            <a:spAutoFit/>
          </a:bodyPr>
          <a:lstStyle/>
          <a:p>
            <a:pPr>
              <a:buNone/>
            </a:pPr>
            <a:r>
              <a:rPr lang="en-GB" sz="2000" dirty="0">
                <a:latin typeface="Georgia Pro Light" panose="02040302050405020303" pitchFamily="18" charset="0"/>
              </a:rPr>
              <a:t>This dashboard shows the top 10 customers and revenue by industry.</a:t>
            </a:r>
          </a:p>
          <a:p>
            <a:pPr>
              <a:buNone/>
            </a:pPr>
            <a:r>
              <a:rPr lang="en-GB" sz="2000" dirty="0">
                <a:latin typeface="Georgia Pro Light" panose="02040302050405020303" pitchFamily="18" charset="0"/>
              </a:rPr>
              <a:t>If you hover over a customer, a detailed chart will appear showing the revenue breakdown by product for that specific customer.</a:t>
            </a:r>
          </a:p>
          <a:p>
            <a:pPr>
              <a:buNone/>
            </a:pPr>
            <a:r>
              <a:rPr lang="en-GB" sz="2000" dirty="0">
                <a:latin typeface="Georgia Pro Light" panose="02040302050405020303" pitchFamily="18" charset="0"/>
              </a:rPr>
              <a:t>You can also filter by year, quarter, country, or industry type to explore different segments.</a:t>
            </a:r>
          </a:p>
        </p:txBody>
      </p:sp>
    </p:spTree>
    <p:extLst>
      <p:ext uri="{BB962C8B-B14F-4D97-AF65-F5344CB8AC3E}">
        <p14:creationId xmlns:p14="http://schemas.microsoft.com/office/powerpoint/2010/main" val="2374261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D5988D-623B-7653-7B6A-3C4116358F3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152CB24-0085-E298-78F1-AC6FF6F53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5679C34-9163-D585-4C29-5270FC471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C584D0FF-F61C-E7AA-EB9E-1553F5D05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 name="Content Placeholder 3">
            <a:extLst>
              <a:ext uri="{FF2B5EF4-FFF2-40B4-BE49-F238E27FC236}">
                <a16:creationId xmlns:a16="http://schemas.microsoft.com/office/drawing/2014/main" id="{4DB995C0-915D-A414-FE21-7F8ABB9E1487}"/>
              </a:ext>
            </a:extLst>
          </p:cNvPr>
          <p:cNvPicPr>
            <a:picLocks noGrp="1" noChangeAspect="1"/>
          </p:cNvPicPr>
          <p:nvPr>
            <p:ph idx="1"/>
          </p:nvPr>
        </p:nvPicPr>
        <p:blipFill>
          <a:blip r:embed="rId2"/>
          <a:stretch>
            <a:fillRect/>
          </a:stretch>
        </p:blipFill>
        <p:spPr>
          <a:xfrm>
            <a:off x="1631229" y="591344"/>
            <a:ext cx="9305476" cy="5385704"/>
          </a:xfrm>
          <a:prstGeom prst="rect">
            <a:avLst/>
          </a:prstGeom>
        </p:spPr>
      </p:pic>
    </p:spTree>
    <p:extLst>
      <p:ext uri="{BB962C8B-B14F-4D97-AF65-F5344CB8AC3E}">
        <p14:creationId xmlns:p14="http://schemas.microsoft.com/office/powerpoint/2010/main" val="2666455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9E73F8-00BD-44CC-A9EB-BE7A8602155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ED68694-655F-B605-2B08-2CC86AB1D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4566113-C639-FCD5-AE05-303A44022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77E8BBA0-F558-BBB6-563E-4BCD1C033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Content Placeholder 4">
            <a:extLst>
              <a:ext uri="{FF2B5EF4-FFF2-40B4-BE49-F238E27FC236}">
                <a16:creationId xmlns:a16="http://schemas.microsoft.com/office/drawing/2014/main" id="{E3C181AF-7DD0-CC2C-1C92-986255B2BB62}"/>
              </a:ext>
            </a:extLst>
          </p:cNvPr>
          <p:cNvPicPr>
            <a:picLocks noGrp="1" noChangeAspect="1"/>
          </p:cNvPicPr>
          <p:nvPr>
            <p:ph idx="1"/>
          </p:nvPr>
        </p:nvPicPr>
        <p:blipFill>
          <a:blip r:embed="rId2"/>
          <a:stretch>
            <a:fillRect/>
          </a:stretch>
        </p:blipFill>
        <p:spPr>
          <a:xfrm>
            <a:off x="2688773" y="2075547"/>
            <a:ext cx="8132026" cy="4640935"/>
          </a:xfrm>
          <a:prstGeom prst="rect">
            <a:avLst/>
          </a:prstGeom>
        </p:spPr>
      </p:pic>
      <p:sp>
        <p:nvSpPr>
          <p:cNvPr id="7" name="TextBox 6">
            <a:extLst>
              <a:ext uri="{FF2B5EF4-FFF2-40B4-BE49-F238E27FC236}">
                <a16:creationId xmlns:a16="http://schemas.microsoft.com/office/drawing/2014/main" id="{37590F1E-31A9-41F6-CF98-2ABFA5A0D619}"/>
              </a:ext>
            </a:extLst>
          </p:cNvPr>
          <p:cNvSpPr txBox="1"/>
          <p:nvPr/>
        </p:nvSpPr>
        <p:spPr>
          <a:xfrm>
            <a:off x="555710" y="276003"/>
            <a:ext cx="6096000" cy="1631216"/>
          </a:xfrm>
          <a:prstGeom prst="rect">
            <a:avLst/>
          </a:prstGeom>
          <a:noFill/>
        </p:spPr>
        <p:txBody>
          <a:bodyPr wrap="square">
            <a:spAutoFit/>
          </a:bodyPr>
          <a:lstStyle/>
          <a:p>
            <a:r>
              <a:rPr lang="en-GB" sz="2000" dirty="0">
                <a:latin typeface="Georgia Pro Light" panose="02040302050405020303" pitchFamily="18" charset="0"/>
              </a:rPr>
              <a:t>In the "Top 10 Revenue by Customer Name" visual, users can select a specific customer to explore further.</a:t>
            </a:r>
            <a:br>
              <a:rPr lang="en-GB" sz="2000" dirty="0">
                <a:latin typeface="Georgia Pro Light" panose="02040302050405020303" pitchFamily="18" charset="0"/>
              </a:rPr>
            </a:br>
            <a:r>
              <a:rPr lang="en-GB" sz="2000" dirty="0">
                <a:latin typeface="Georgia Pro Light" panose="02040302050405020303" pitchFamily="18" charset="0"/>
              </a:rPr>
              <a:t>By using the </a:t>
            </a:r>
            <a:r>
              <a:rPr lang="en-GB" sz="2000" dirty="0" err="1">
                <a:latin typeface="Georgia Pro Light" panose="02040302050405020303" pitchFamily="18" charset="0"/>
              </a:rPr>
              <a:t>Drillthrough</a:t>
            </a:r>
            <a:r>
              <a:rPr lang="en-GB" sz="2000" dirty="0">
                <a:latin typeface="Georgia Pro Light" panose="02040302050405020303" pitchFamily="18" charset="0"/>
              </a:rPr>
              <a:t> feature, clicking on a customer automatically navigates to a detailed dashboard that provides comprehensive insights.</a:t>
            </a:r>
            <a:endParaRPr lang="LID4096" sz="2000" dirty="0">
              <a:latin typeface="Georgia Pro Light" panose="02040302050405020303" pitchFamily="18" charset="0"/>
            </a:endParaRPr>
          </a:p>
        </p:txBody>
      </p:sp>
    </p:spTree>
    <p:extLst>
      <p:ext uri="{BB962C8B-B14F-4D97-AF65-F5344CB8AC3E}">
        <p14:creationId xmlns:p14="http://schemas.microsoft.com/office/powerpoint/2010/main" val="2092609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D2A0A3-873A-7D3E-9C33-FA2F06D3D90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B6C7DC-F1F3-066B-B349-6BB2AD3304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40D8D0C-ABE2-0DCB-82D8-F480F0901F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AB3EDCF5-AFE7-6430-1D3F-90EA47596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 name="Content Placeholder 3">
            <a:extLst>
              <a:ext uri="{FF2B5EF4-FFF2-40B4-BE49-F238E27FC236}">
                <a16:creationId xmlns:a16="http://schemas.microsoft.com/office/drawing/2014/main" id="{687EB6E8-7355-3A78-DF8B-D6795D06E961}"/>
              </a:ext>
            </a:extLst>
          </p:cNvPr>
          <p:cNvPicPr>
            <a:picLocks noGrp="1" noChangeAspect="1"/>
          </p:cNvPicPr>
          <p:nvPr>
            <p:ph idx="1"/>
          </p:nvPr>
        </p:nvPicPr>
        <p:blipFill>
          <a:blip r:embed="rId2"/>
          <a:stretch>
            <a:fillRect/>
          </a:stretch>
        </p:blipFill>
        <p:spPr>
          <a:xfrm>
            <a:off x="3318139" y="1904326"/>
            <a:ext cx="7675575" cy="4362329"/>
          </a:xfrm>
          <a:prstGeom prst="rect">
            <a:avLst/>
          </a:prstGeom>
        </p:spPr>
      </p:pic>
      <p:sp>
        <p:nvSpPr>
          <p:cNvPr id="6" name="TextBox 5">
            <a:extLst>
              <a:ext uri="{FF2B5EF4-FFF2-40B4-BE49-F238E27FC236}">
                <a16:creationId xmlns:a16="http://schemas.microsoft.com/office/drawing/2014/main" id="{8DBA9360-31E6-18F2-CBE7-08D0D8A59B04}"/>
              </a:ext>
            </a:extLst>
          </p:cNvPr>
          <p:cNvSpPr txBox="1"/>
          <p:nvPr/>
        </p:nvSpPr>
        <p:spPr>
          <a:xfrm>
            <a:off x="892628" y="526614"/>
            <a:ext cx="6096000" cy="1477328"/>
          </a:xfrm>
          <a:prstGeom prst="rect">
            <a:avLst/>
          </a:prstGeom>
          <a:noFill/>
        </p:spPr>
        <p:txBody>
          <a:bodyPr wrap="square">
            <a:spAutoFit/>
          </a:bodyPr>
          <a:lstStyle/>
          <a:p>
            <a:r>
              <a:rPr lang="en-GB" dirty="0">
                <a:latin typeface="Georgia Pro Light" panose="02040302050405020303" pitchFamily="18" charset="0"/>
              </a:rPr>
              <a:t>This dashboard provides a clear view of revenue trends and order quantities over time. Users can filter by year and quarter to </a:t>
            </a:r>
            <a:r>
              <a:rPr lang="en-GB" dirty="0" err="1">
                <a:latin typeface="Georgia Pro Light" panose="02040302050405020303" pitchFamily="18" charset="0"/>
              </a:rPr>
              <a:t>analyze</a:t>
            </a:r>
            <a:r>
              <a:rPr lang="en-GB" dirty="0">
                <a:latin typeface="Georgia Pro Light" panose="02040302050405020303" pitchFamily="18" charset="0"/>
              </a:rPr>
              <a:t> quarterly and monthly performance, view the number of orders, and monitor average revenue per line and per order.</a:t>
            </a:r>
            <a:endParaRPr lang="LID4096" dirty="0">
              <a:latin typeface="Georgia Pro Light" panose="02040302050405020303" pitchFamily="18" charset="0"/>
            </a:endParaRPr>
          </a:p>
        </p:txBody>
      </p:sp>
    </p:spTree>
    <p:extLst>
      <p:ext uri="{BB962C8B-B14F-4D97-AF65-F5344CB8AC3E}">
        <p14:creationId xmlns:p14="http://schemas.microsoft.com/office/powerpoint/2010/main" val="2894177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F72410-A431-0AC5-8481-650FF95574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B3135C-CF7F-6314-DF4F-76B1FB60B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90223D0-CF36-893F-5944-92834D9E8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FDEBD2C6-A7A0-A616-7BAF-B6A5BB7E6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 name="Content Placeholder 3">
            <a:extLst>
              <a:ext uri="{FF2B5EF4-FFF2-40B4-BE49-F238E27FC236}">
                <a16:creationId xmlns:a16="http://schemas.microsoft.com/office/drawing/2014/main" id="{0AD439B8-B498-74BF-B7B2-ECF081C4F20C}"/>
              </a:ext>
            </a:extLst>
          </p:cNvPr>
          <p:cNvPicPr>
            <a:picLocks noGrp="1" noChangeAspect="1"/>
          </p:cNvPicPr>
          <p:nvPr>
            <p:ph idx="1"/>
          </p:nvPr>
        </p:nvPicPr>
        <p:blipFill>
          <a:blip r:embed="rId2"/>
          <a:stretch>
            <a:fillRect/>
          </a:stretch>
        </p:blipFill>
        <p:spPr>
          <a:xfrm>
            <a:off x="3913879" y="2030988"/>
            <a:ext cx="7429882" cy="4235668"/>
          </a:xfrm>
          <a:prstGeom prst="rect">
            <a:avLst/>
          </a:prstGeom>
        </p:spPr>
      </p:pic>
      <p:sp>
        <p:nvSpPr>
          <p:cNvPr id="6" name="TextBox 5">
            <a:extLst>
              <a:ext uri="{FF2B5EF4-FFF2-40B4-BE49-F238E27FC236}">
                <a16:creationId xmlns:a16="http://schemas.microsoft.com/office/drawing/2014/main" id="{D96696B8-67D4-EBAF-FD9F-03EBAB3FE340}"/>
              </a:ext>
            </a:extLst>
          </p:cNvPr>
          <p:cNvSpPr txBox="1"/>
          <p:nvPr/>
        </p:nvSpPr>
        <p:spPr>
          <a:xfrm>
            <a:off x="132458" y="160717"/>
            <a:ext cx="8184228" cy="1631216"/>
          </a:xfrm>
          <a:prstGeom prst="rect">
            <a:avLst/>
          </a:prstGeom>
          <a:noFill/>
        </p:spPr>
        <p:txBody>
          <a:bodyPr wrap="square">
            <a:spAutoFit/>
          </a:bodyPr>
          <a:lstStyle/>
          <a:p>
            <a:pPr>
              <a:buNone/>
            </a:pPr>
            <a:r>
              <a:rPr lang="en-GB" sz="2000" dirty="0">
                <a:latin typeface="Georgia Pro Light" panose="02040302050405020303" pitchFamily="18" charset="0"/>
              </a:rPr>
              <a:t>This dashboard displays interactive visualizations, using the slicers on the right, we can filter the data by year and quarter — and all charts update automatically.</a:t>
            </a:r>
          </a:p>
          <a:p>
            <a:pPr>
              <a:buNone/>
            </a:pPr>
            <a:r>
              <a:rPr lang="en-GB" sz="2000" dirty="0">
                <a:latin typeface="Georgia Pro Light" panose="02040302050405020303" pitchFamily="18" charset="0"/>
              </a:rPr>
              <a:t>The visuals are all connected, allowing for quick insights into seasonal patterns and business performance over time.</a:t>
            </a:r>
          </a:p>
        </p:txBody>
      </p:sp>
    </p:spTree>
    <p:extLst>
      <p:ext uri="{BB962C8B-B14F-4D97-AF65-F5344CB8AC3E}">
        <p14:creationId xmlns:p14="http://schemas.microsoft.com/office/powerpoint/2010/main" val="3520654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69DC2D7-2405-E5A4-7317-45AED5520D0D}"/>
              </a:ext>
            </a:extLst>
          </p:cNvPr>
          <p:cNvSpPr>
            <a:spLocks noGrp="1"/>
          </p:cNvSpPr>
          <p:nvPr>
            <p:ph type="title"/>
          </p:nvPr>
        </p:nvSpPr>
        <p:spPr>
          <a:xfrm>
            <a:off x="1137036" y="548640"/>
            <a:ext cx="9543405" cy="1188720"/>
          </a:xfrm>
        </p:spPr>
        <p:txBody>
          <a:bodyPr>
            <a:normAutofit/>
          </a:bodyPr>
          <a:lstStyle/>
          <a:p>
            <a:r>
              <a:rPr lang="en-US" dirty="0">
                <a:solidFill>
                  <a:srgbClr val="163E64"/>
                </a:solidFill>
              </a:rPr>
              <a:t>Conclusion </a:t>
            </a:r>
            <a:endParaRPr lang="LID4096" dirty="0">
              <a:solidFill>
                <a:srgbClr val="163E64"/>
              </a:solidFill>
            </a:endParaRPr>
          </a:p>
        </p:txBody>
      </p:sp>
      <p:sp>
        <p:nvSpPr>
          <p:cNvPr id="3" name="Content Placeholder 2">
            <a:extLst>
              <a:ext uri="{FF2B5EF4-FFF2-40B4-BE49-F238E27FC236}">
                <a16:creationId xmlns:a16="http://schemas.microsoft.com/office/drawing/2014/main" id="{7E50A4CD-60EB-52C9-1563-A00D40C8B47F}"/>
              </a:ext>
            </a:extLst>
          </p:cNvPr>
          <p:cNvSpPr>
            <a:spLocks noGrp="1"/>
          </p:cNvSpPr>
          <p:nvPr>
            <p:ph idx="1"/>
          </p:nvPr>
        </p:nvSpPr>
        <p:spPr>
          <a:xfrm>
            <a:off x="1957987" y="2431765"/>
            <a:ext cx="8276026" cy="3320031"/>
          </a:xfrm>
        </p:spPr>
        <p:txBody>
          <a:bodyPr anchor="ctr">
            <a:normAutofit/>
          </a:bodyPr>
          <a:lstStyle/>
          <a:p>
            <a:pPr marL="0" indent="0">
              <a:buNone/>
            </a:pPr>
            <a:r>
              <a:rPr lang="en-GB" sz="2000" dirty="0">
                <a:solidFill>
                  <a:schemeClr val="tx1">
                    <a:lumMod val="85000"/>
                    <a:lumOff val="15000"/>
                  </a:schemeClr>
                </a:solidFill>
                <a:latin typeface="Georgia Pro Light" panose="02040302050405020303" pitchFamily="18" charset="0"/>
              </a:rPr>
              <a:t>Power BI is a tool that requires hands-on practice to master its configuration options and learn how to effectively present data.</a:t>
            </a:r>
          </a:p>
          <a:p>
            <a:pPr marL="0" indent="0">
              <a:buNone/>
            </a:pPr>
            <a:r>
              <a:rPr lang="en-GB" sz="2000" dirty="0">
                <a:latin typeface="Georgia Pro Light" panose="02040302050405020303" pitchFamily="18" charset="0"/>
              </a:rPr>
              <a:t>Throughout the process, we learned a lot through trial and error — especially about how to properly assign fields to the axes, values, and legend areas in each visual to get the desired result.</a:t>
            </a:r>
          </a:p>
          <a:p>
            <a:pPr marL="0" indent="0">
              <a:buNone/>
            </a:pPr>
            <a:r>
              <a:rPr lang="en-GB" sz="2000" dirty="0">
                <a:solidFill>
                  <a:schemeClr val="tx1">
                    <a:lumMod val="85000"/>
                    <a:lumOff val="15000"/>
                  </a:schemeClr>
                </a:solidFill>
                <a:latin typeface="Georgia Pro Light" panose="02040302050405020303" pitchFamily="18" charset="0"/>
              </a:rPr>
              <a:t>However, when used properly, its interactivity becomes a great advantage — making it incredibly intuitive even for users without technical backgrounds</a:t>
            </a:r>
            <a:endParaRPr lang="LID4096" sz="2000" dirty="0">
              <a:solidFill>
                <a:schemeClr val="tx1">
                  <a:lumMod val="85000"/>
                  <a:lumOff val="15000"/>
                </a:schemeClr>
              </a:solidFill>
              <a:latin typeface="Georgia Pro Light" panose="02040302050405020303" pitchFamily="18" charset="0"/>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233632D-25E0-A3B2-7AA6-9E888CE19E7A}"/>
              </a:ext>
            </a:extLst>
          </p:cNvPr>
          <p:cNvCxnSpPr>
            <a:cxnSpLocks/>
          </p:cNvCxnSpPr>
          <p:nvPr/>
        </p:nvCxnSpPr>
        <p:spPr>
          <a:xfrm>
            <a:off x="979714" y="743416"/>
            <a:ext cx="0" cy="730726"/>
          </a:xfrm>
          <a:prstGeom prst="line">
            <a:avLst/>
          </a:prstGeom>
          <a:ln w="85725">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69002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TotalTime>
  <Words>1229</Words>
  <Application>Microsoft Office PowerPoint</Application>
  <PresentationFormat>Widescreen</PresentationFormat>
  <Paragraphs>72</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Calibri</vt:lpstr>
      <vt:lpstr>Georgia Pro Light</vt:lpstr>
      <vt:lpstr>Office Theme</vt:lpstr>
      <vt:lpstr>Data Modeling </vt:lpstr>
      <vt:lpstr>Project Objective</vt:lpstr>
      <vt:lpstr>PowerPoint Presentation</vt:lpstr>
      <vt:lpstr>Data preparation</vt:lpstr>
      <vt:lpstr>PowerPoint Presentation</vt:lpstr>
      <vt:lpstr> Power BI Report Building </vt:lpstr>
      <vt:lpstr>Advanced DAX Analysis </vt:lpstr>
      <vt:lpstr>Problems and solutions </vt:lpstr>
      <vt:lpstr>This chart shows the total revenue generated by each product. It allows us to easily compare which product categories are the most profitable.</vt:lpstr>
      <vt:lpstr>This These two charts display the same data but at different levels of hierarchy. The first chart shows total revenue and quantity by division, while the second drills down into region-level details within each division. </vt:lpstr>
      <vt:lpstr>These three visuals demonstrate the use of slicers in Excel, which allow interactive filtering of the data based on Division, Quarter, and Region. Each slicer dynamically updates the pivot table to display only the relevant data selected.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Tali Oberlander</dc:creator>
  <cp:lastModifiedBy>Hernan Aronson</cp:lastModifiedBy>
  <cp:revision>1</cp:revision>
  <dcterms:created xsi:type="dcterms:W3CDTF">2025-08-05T17:10:47Z</dcterms:created>
  <dcterms:modified xsi:type="dcterms:W3CDTF">2025-08-05T21:08:48Z</dcterms:modified>
</cp:coreProperties>
</file>